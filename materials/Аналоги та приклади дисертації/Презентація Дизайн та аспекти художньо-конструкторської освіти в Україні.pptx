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13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469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00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947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34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05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703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844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312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717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401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6879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7647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550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987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236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83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A71EE-01DE-4C25-9F58-C9643BBD3DFD}" type="datetimeFigureOut">
              <a:rPr lang="ru-RU" smtClean="0"/>
              <a:t>23.04.2023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E3BB7-00E8-459D-9F4C-AC9DF6C5F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6560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A27BFC-AA0D-4D91-B084-CD2B88A89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45588" y="2463963"/>
            <a:ext cx="9570044" cy="1489060"/>
          </a:xfrm>
        </p:spPr>
        <p:txBody>
          <a:bodyPr>
            <a:normAutofit/>
          </a:bodyPr>
          <a:lstStyle/>
          <a:p>
            <a:r>
              <a:rPr lang="uk-UA" sz="4400" dirty="0">
                <a:solidFill>
                  <a:schemeClr val="tx2"/>
                </a:solidFill>
              </a:rPr>
              <a:t>Дизайн та аспекти  художньо-конструкторської освіти в Україні</a:t>
            </a:r>
            <a:endParaRPr lang="ru-RU" sz="4400" dirty="0">
              <a:solidFill>
                <a:schemeClr val="tx2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2DD598-6057-47B0-9552-FB09152B3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0116" y="4478445"/>
            <a:ext cx="4913637" cy="1922355"/>
          </a:xfrm>
        </p:spPr>
        <p:txBody>
          <a:bodyPr/>
          <a:lstStyle/>
          <a:p>
            <a:r>
              <a:rPr lang="uk-UA" sz="2800" dirty="0"/>
              <a:t>Виконав: аспірант групи АСЗ-22 Мусієнко О.О.</a:t>
            </a:r>
          </a:p>
          <a:p>
            <a:r>
              <a:rPr lang="uk-UA" sz="2800" dirty="0"/>
              <a:t>Викладач: </a:t>
            </a:r>
            <a:r>
              <a:rPr lang="uk-UA" sz="2800" dirty="0" err="1"/>
              <a:t>Мінтій</a:t>
            </a:r>
            <a:r>
              <a:rPr lang="uk-UA" sz="2800"/>
              <a:t> І.С.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606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0ED0C9-F520-4BB8-8515-5116D3E89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Дизайн як галузь професіональної діяльності людини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9F4B36-814B-46D5-9DFC-ADE0FA6EE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743839" cy="4204604"/>
          </a:xfrm>
        </p:spPr>
        <p:txBody>
          <a:bodyPr>
            <a:normAutofit/>
          </a:bodyPr>
          <a:lstStyle/>
          <a:p>
            <a:r>
              <a:rPr lang="uk-UA" sz="2800" dirty="0"/>
              <a:t>Сформувався завдяки інтеграції досягнень науково-технічного прогресу і художньої культури в сфері предметної творчості.</a:t>
            </a:r>
          </a:p>
          <a:p>
            <a:endParaRPr lang="uk-UA" sz="2800" dirty="0"/>
          </a:p>
          <a:p>
            <a:r>
              <a:rPr lang="uk-UA" sz="2800" dirty="0"/>
              <a:t>Дизайн – це творчий метод, процес і результат художньо-технічного проектування промислових виробів, відповідних утилітарним і естетичним потребам людини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802451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D7FB2AA-BE28-4997-A56F-472F4785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                             </a:t>
            </a:r>
            <a:r>
              <a:rPr lang="uk-UA" sz="5400" dirty="0"/>
              <a:t>Дизайн</a:t>
            </a:r>
            <a:endParaRPr lang="ru-RU" sz="5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BA63CCC-2AC4-4623-BC2A-319BBA19D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990" y="2361887"/>
            <a:ext cx="3070034" cy="551248"/>
          </a:xfrm>
        </p:spPr>
        <p:txBody>
          <a:bodyPr/>
          <a:lstStyle/>
          <a:p>
            <a:r>
              <a:rPr lang="uk-UA" dirty="0"/>
              <a:t>         </a:t>
            </a:r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9417673-4FF5-4243-89D3-FF10CD90C953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295422" y="2124223"/>
            <a:ext cx="3434602" cy="3980550"/>
          </a:xfrm>
        </p:spPr>
        <p:txBody>
          <a:bodyPr>
            <a:noAutofit/>
          </a:bodyPr>
          <a:lstStyle/>
          <a:p>
            <a:r>
              <a:rPr lang="uk-UA" sz="3200" dirty="0"/>
              <a:t>Задум, план, мета, намір, творчий задум, проект, ескіз, малюнок, композиція, витвір мистецтва.</a:t>
            </a:r>
            <a:endParaRPr lang="ru-RU" sz="3200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D39CEC5-1991-4303-A29B-E0CF5F2CFF4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945470" y="2124223"/>
            <a:ext cx="3063240" cy="3980549"/>
          </a:xfrm>
        </p:spPr>
        <p:txBody>
          <a:bodyPr>
            <a:noAutofit/>
          </a:bodyPr>
          <a:lstStyle/>
          <a:p>
            <a:r>
              <a:rPr lang="uk-UA" sz="3200" dirty="0"/>
              <a:t>Мета дизайну – розв’язання проблем проектування від найменшого елементу конструкції до глобальних великих ідей</a:t>
            </a:r>
            <a:endParaRPr lang="ru-RU" sz="3200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E35BD84-CE95-4E9F-967D-C12A8E0DB6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uk-UA" dirty="0"/>
              <a:t>          </a:t>
            </a:r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2453B5D-CE0F-4E9D-922F-933F8CCA76FF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99405" y="2124223"/>
            <a:ext cx="3340681" cy="3279653"/>
          </a:xfrm>
        </p:spPr>
        <p:txBody>
          <a:bodyPr>
            <a:normAutofit/>
          </a:bodyPr>
          <a:lstStyle/>
          <a:p>
            <a:r>
              <a:rPr lang="uk-UA" sz="3200" dirty="0"/>
              <a:t>Інструмент комунікації між людиною та об’єктом дизайну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803347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9FCFA-B818-4F00-B787-55B8C5F19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4000" dirty="0"/>
              <a:t>Основні завдання дизайну: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1B4EF8-1658-4130-B591-0AF22C277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3200" dirty="0"/>
              <a:t>Ергономіка (місткість у використанні об’єкту дизайну;</a:t>
            </a:r>
          </a:p>
          <a:p>
            <a:r>
              <a:rPr lang="uk-UA" sz="3200" dirty="0"/>
              <a:t>Інтерфейс користувача (психологічні особливості оператора, що працює з об’єктом дизайну;</a:t>
            </a:r>
          </a:p>
          <a:p>
            <a:r>
              <a:rPr lang="uk-UA" sz="3200" dirty="0"/>
              <a:t>Застосування інноваційних технологій.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365653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A21725-50B6-448E-B145-614B37481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4000" dirty="0"/>
              <a:t>Основні методи дизайну: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97D588-5983-4822-B791-C5D2F6A2A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3318339"/>
          </a:xfrm>
        </p:spPr>
        <p:txBody>
          <a:bodyPr>
            <a:normAutofit/>
          </a:bodyPr>
          <a:lstStyle/>
          <a:p>
            <a:r>
              <a:rPr lang="uk-UA" sz="3600" dirty="0"/>
              <a:t>Є художньо-образне моделювання об’єкта дизайн-</a:t>
            </a:r>
            <a:r>
              <a:rPr lang="uk-UA" sz="3600" dirty="0" err="1"/>
              <a:t>проєктування</a:t>
            </a:r>
            <a:r>
              <a:rPr lang="uk-UA" sz="3600" dirty="0"/>
              <a:t> через композиційне формотворення. Воно базується на результатах аналізу потреб споживачів, що характеризують їх спосіб життя.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123636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F0B6F2-6836-4C77-93D1-AAA4488C7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4000" dirty="0"/>
              <a:t>Предмет дизайнерської діяльності: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99899A-246A-42C8-9A59-EA43E9AC2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3600" dirty="0"/>
              <a:t>Створення гармонійної, змістової і виразної форми об’єкту, в якому відображається цілісне значення його споживчої цінності.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737425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C3419DBC-2D6B-4404-A97F-7FDCCAED1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400" dirty="0"/>
              <a:t>Основними категоріями проектної діяльності дизайнера є:</a:t>
            </a:r>
            <a:endParaRPr lang="ru-RU" sz="4400" dirty="0"/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A521F86E-CDCC-425D-AD6F-74B7EE230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7421" y="3052689"/>
            <a:ext cx="6808763" cy="2883500"/>
          </a:xfrm>
        </p:spPr>
        <p:txBody>
          <a:bodyPr/>
          <a:lstStyle/>
          <a:p>
            <a:r>
              <a:rPr lang="uk-UA" dirty="0"/>
              <a:t>«</a:t>
            </a:r>
            <a:r>
              <a:rPr lang="uk-UA" sz="4000" dirty="0"/>
              <a:t>Образ»;</a:t>
            </a:r>
          </a:p>
          <a:p>
            <a:r>
              <a:rPr lang="uk-UA" sz="4000" dirty="0"/>
              <a:t>«Технологічна форма»;</a:t>
            </a:r>
          </a:p>
          <a:p>
            <a:r>
              <a:rPr lang="uk-UA" sz="4000" dirty="0"/>
              <a:t>«Естетична цінність».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917374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BBA05D6-ABE8-41B3-B966-3AE4EEB44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Систему взаємопов’язаних функцій дизайну, що визначають його роль в формуванні культури суспільства, складають:</a:t>
            </a:r>
            <a:endParaRPr lang="ru-RU" dirty="0"/>
          </a:p>
        </p:txBody>
      </p:sp>
      <p:sp>
        <p:nvSpPr>
          <p:cNvPr id="21" name="Объект 20">
            <a:extLst>
              <a:ext uri="{FF2B5EF4-FFF2-40B4-BE49-F238E27FC236}">
                <a16:creationId xmlns:a16="http://schemas.microsoft.com/office/drawing/2014/main" id="{A88E2B50-4001-4907-95B3-DDB62D76A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3600" dirty="0" err="1"/>
              <a:t>конструктивно</a:t>
            </a:r>
            <a:r>
              <a:rPr lang="uk-UA" sz="3600" dirty="0"/>
              <a:t>-морфологічна;    </a:t>
            </a:r>
          </a:p>
          <a:p>
            <a:r>
              <a:rPr lang="uk-UA" sz="3600" dirty="0"/>
              <a:t>пізнавальна;</a:t>
            </a:r>
          </a:p>
          <a:p>
            <a:r>
              <a:rPr lang="uk-UA" sz="3600" dirty="0" err="1"/>
              <a:t>цінносно-орієнтаційна</a:t>
            </a:r>
            <a:r>
              <a:rPr lang="uk-UA" sz="3600" dirty="0"/>
              <a:t>;</a:t>
            </a:r>
          </a:p>
          <a:p>
            <a:r>
              <a:rPr lang="uk-UA" sz="3600" dirty="0"/>
              <a:t>комунікативна;</a:t>
            </a:r>
          </a:p>
          <a:p>
            <a:endParaRPr lang="uk-UA" dirty="0"/>
          </a:p>
          <a:p>
            <a:endParaRPr lang="uk-UA" dirty="0"/>
          </a:p>
          <a:p>
            <a:endParaRPr lang="uk-UA" dirty="0"/>
          </a:p>
          <a:p>
            <a:endParaRPr lang="ru-RU" dirty="0"/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938F9582-9C6B-4538-8B1F-3564313AA594}"/>
              </a:ext>
            </a:extLst>
          </p:cNvPr>
          <p:cNvSpPr txBox="1">
            <a:spLocks/>
          </p:cNvSpPr>
          <p:nvPr/>
        </p:nvSpPr>
        <p:spPr>
          <a:xfrm>
            <a:off x="660946" y="4232495"/>
            <a:ext cx="3049702" cy="7756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F70DD4A-18CC-470F-9A3B-615CB7DA5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705" y="2277084"/>
            <a:ext cx="3695349" cy="382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237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AE9CF1-3509-498B-8D09-E5CDAC6E6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247" y="515811"/>
            <a:ext cx="9613860" cy="3036061"/>
          </a:xfrm>
        </p:spPr>
        <p:txBody>
          <a:bodyPr>
            <a:noAutofit/>
          </a:bodyPr>
          <a:lstStyle/>
          <a:p>
            <a:r>
              <a:rPr lang="uk-UA" sz="4400" dirty="0"/>
              <a:t>Питання професіоналізму дизайнерів і професіоналізація самого процесу зумовили завдання підготовки дизайнерських кадрів.</a:t>
            </a:r>
            <a:endParaRPr lang="ru-RU" sz="4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20CAA14-F880-42AC-B8CE-45CD2175F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536787"/>
          </a:xfrm>
        </p:spPr>
        <p:txBody>
          <a:bodyPr>
            <a:normAutofit/>
          </a:bodyPr>
          <a:lstStyle/>
          <a:p>
            <a:r>
              <a:rPr lang="uk-UA" sz="2400" dirty="0"/>
              <a:t>Підготовка спеціалістів за освітньою програмою 022 Дизайн регламентується Стандартом вищої освіти України (наказ Міністерства освіти і науки України 2018 р. за ступенями вищої освіти бакалавр і магістр).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7339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8C9930E-7593-4E85-8EFA-A55129723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457" y="1758461"/>
            <a:ext cx="9743838" cy="3967089"/>
          </a:xfrm>
        </p:spPr>
        <p:txBody>
          <a:bodyPr>
            <a:noAutofit/>
          </a:bodyPr>
          <a:lstStyle/>
          <a:p>
            <a:r>
              <a:rPr lang="uk-UA" dirty="0"/>
              <a:t>Теорія і методологія проведення наукових і теоретичних досліджень у сфері дизайну; інноваційні стратегії проектування об’єктів дизайну і методика викладання дизайнерських дисциплін складають методи, методики та технології цієї освіти.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7686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847EAE-A11B-49D1-95E8-913B6717C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Модель процесу навчання художнього проектування складається з трьох блоків: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E84DBB-7485-4ECC-9415-CCF708A1A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4881" y="2569840"/>
            <a:ext cx="9613861" cy="4176469"/>
          </a:xfrm>
        </p:spPr>
        <p:txBody>
          <a:bodyPr>
            <a:normAutofit/>
          </a:bodyPr>
          <a:lstStyle/>
          <a:p>
            <a:r>
              <a:rPr lang="uk-UA" sz="3200" dirty="0"/>
              <a:t>Методологічно-пізнавальний;</a:t>
            </a:r>
          </a:p>
          <a:p>
            <a:pPr marL="0" indent="0">
              <a:buNone/>
            </a:pPr>
            <a:endParaRPr lang="uk-UA" sz="3200" dirty="0"/>
          </a:p>
          <a:p>
            <a:r>
              <a:rPr lang="uk-UA" sz="3200" dirty="0"/>
              <a:t>Організаційно-методичний;</a:t>
            </a:r>
          </a:p>
          <a:p>
            <a:endParaRPr lang="uk-UA" sz="3200" dirty="0"/>
          </a:p>
          <a:p>
            <a:r>
              <a:rPr lang="uk-UA" sz="3200" dirty="0" err="1"/>
              <a:t>Результативно-рефлексійний</a:t>
            </a:r>
            <a:r>
              <a:rPr lang="uk-UA" sz="3200" dirty="0"/>
              <a:t>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623808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C8D0BF-C13C-48C0-BDD0-89EDE46B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Методологічні</a:t>
            </a:r>
            <a:r>
              <a:rPr lang="ru-RU" dirty="0"/>
              <a:t> </a:t>
            </a:r>
            <a:r>
              <a:rPr lang="ru-RU" dirty="0" err="1"/>
              <a:t>підходи</a:t>
            </a:r>
            <a:r>
              <a:rPr lang="ru-RU" dirty="0"/>
              <a:t> до </a:t>
            </a:r>
            <a:r>
              <a:rPr lang="ru-RU" dirty="0" err="1"/>
              <a:t>навчання</a:t>
            </a:r>
            <a:r>
              <a:rPr lang="ru-RU" dirty="0"/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44250F-72A7-4CC1-AB06-702BA4118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076620"/>
            <a:ext cx="9771974" cy="478138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uk-UA" sz="3400" dirty="0"/>
              <a:t>Інтегративний – ґрунтується на комплексному підході до вивчення фахових дисциплін, що сприяє розв’язанню </a:t>
            </a:r>
            <a:r>
              <a:rPr lang="uk-UA" sz="3400" dirty="0" err="1"/>
              <a:t>внутрішньодисциплінарних</a:t>
            </a:r>
            <a:r>
              <a:rPr lang="uk-UA" sz="3400" dirty="0"/>
              <a:t> і міждисциплінарних проблем;</a:t>
            </a:r>
          </a:p>
          <a:p>
            <a:pPr>
              <a:lnSpc>
                <a:spcPct val="110000"/>
              </a:lnSpc>
            </a:pPr>
            <a:endParaRPr lang="uk-UA" sz="3400" dirty="0"/>
          </a:p>
          <a:p>
            <a:pPr>
              <a:lnSpc>
                <a:spcPct val="110000"/>
              </a:lnSpc>
            </a:pPr>
            <a:r>
              <a:rPr lang="uk-UA" sz="3400" dirty="0" err="1"/>
              <a:t>Компетентнісний</a:t>
            </a:r>
            <a:r>
              <a:rPr lang="uk-UA" sz="3400" dirty="0"/>
              <a:t> – це спрямованість освітнього процесу на роботу з інформацією та опанування студентами </a:t>
            </a:r>
            <a:r>
              <a:rPr lang="uk-UA" sz="3400" dirty="0" err="1"/>
              <a:t>компетентностей</a:t>
            </a:r>
            <a:r>
              <a:rPr lang="uk-UA" sz="3400" dirty="0"/>
              <a:t>, умінь і навичок;</a:t>
            </a:r>
          </a:p>
          <a:p>
            <a:pPr>
              <a:lnSpc>
                <a:spcPct val="110000"/>
              </a:lnSpc>
            </a:pPr>
            <a:endParaRPr lang="uk-UA" sz="3400" dirty="0"/>
          </a:p>
          <a:p>
            <a:pPr>
              <a:lnSpc>
                <a:spcPct val="110000"/>
              </a:lnSpc>
            </a:pPr>
            <a:r>
              <a:rPr lang="uk-UA" sz="3400" dirty="0"/>
              <a:t>Метод проектів – це метод, ефективність якого полягає у розвитку у майбутніх фахівців високого рівня фантазії, творчої уяви, інтуїції.</a:t>
            </a:r>
          </a:p>
          <a:p>
            <a:endParaRPr lang="uk-UA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899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372767-19DD-4456-9188-87E2D0FB6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Професіоналізм дизайну базується на рішенні трьох проблем: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33045D-0247-4D2E-9A6F-1D4D80186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715704" cy="3599316"/>
          </a:xfrm>
        </p:spPr>
        <p:txBody>
          <a:bodyPr numCol="2">
            <a:normAutofit/>
          </a:bodyPr>
          <a:lstStyle/>
          <a:p>
            <a:r>
              <a:rPr lang="uk-UA" dirty="0"/>
              <a:t>Виявлення наукових передумов дизайнерської творчості;</a:t>
            </a:r>
          </a:p>
          <a:p>
            <a:endParaRPr lang="uk-UA" dirty="0"/>
          </a:p>
          <a:p>
            <a:endParaRPr lang="uk-UA" dirty="0"/>
          </a:p>
          <a:p>
            <a:r>
              <a:rPr lang="uk-UA" dirty="0"/>
              <a:t>Виявлення методичних основ процесу, засобів і способів проектної практики;</a:t>
            </a:r>
          </a:p>
          <a:p>
            <a:endParaRPr lang="uk-UA" dirty="0"/>
          </a:p>
          <a:p>
            <a:endParaRPr lang="uk-UA" dirty="0"/>
          </a:p>
          <a:p>
            <a:r>
              <a:rPr lang="uk-UA" dirty="0"/>
              <a:t>Формування творчого кредо, основ світобачення, усвідомлення своєї ролі в суспільстві.</a:t>
            </a:r>
          </a:p>
          <a:p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5760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88F25-A1D1-44A8-925C-13A28EBD2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04" y="140677"/>
            <a:ext cx="10053330" cy="4332849"/>
          </a:xfrm>
        </p:spPr>
        <p:txBody>
          <a:bodyPr>
            <a:normAutofit/>
          </a:bodyPr>
          <a:lstStyle/>
          <a:p>
            <a:r>
              <a:rPr lang="uk-UA" b="1" dirty="0">
                <a:solidFill>
                  <a:schemeClr val="bg1"/>
                </a:solidFill>
              </a:rPr>
              <a:t>Навчання дизайну </a:t>
            </a:r>
            <a:r>
              <a:rPr lang="uk-UA" dirty="0"/>
              <a:t>є закономірним наслідком  виявлення позитивних світових тенденцій, наукового обґрунтування концепції розвитку дизайн-освіти та її змістовного наповнення. Зміст дизайнерської освіти має поєднувати компоненти, які сприяють розвитку у особистості навичок пізнавальної, прогностичної, </a:t>
            </a:r>
            <a:r>
              <a:rPr lang="uk-UA" dirty="0" err="1"/>
              <a:t>конструкторсько</a:t>
            </a:r>
            <a:r>
              <a:rPr lang="uk-UA" dirty="0"/>
              <a:t>-перетворювальної, </a:t>
            </a:r>
            <a:r>
              <a:rPr lang="uk-UA" dirty="0" err="1"/>
              <a:t>оцінно</a:t>
            </a:r>
            <a:r>
              <a:rPr lang="uk-UA" dirty="0"/>
              <a:t>-селективної та інших видів діяльності.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4035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9F22C4-50F8-4F6F-8CE5-92CE3D004546}"/>
              </a:ext>
            </a:extLst>
          </p:cNvPr>
          <p:cNvSpPr txBox="1"/>
          <p:nvPr/>
        </p:nvSpPr>
        <p:spPr>
          <a:xfrm>
            <a:off x="576775" y="181957"/>
            <a:ext cx="9411287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200" dirty="0"/>
              <a:t>Інтеграція України в світовий освітній простір та процеси глобалізації, приєднання до Болонського процесу до коріння змінило філософію освіти та концепцію її розвитку. Вивчення міжнародного досвіду є надзвичайно важливим для України, оскільки відсутність чіткої національної стратегії інтернаціоналізації освіти призводить до наукового експорту обсягу освітніх послуг, </a:t>
            </a:r>
            <a:r>
              <a:rPr lang="uk-UA" sz="3200" dirty="0" err="1"/>
              <a:t>незадовідьних</a:t>
            </a:r>
            <a:r>
              <a:rPr lang="uk-UA" sz="3200" dirty="0"/>
              <a:t> темпів розвитку міжнародних освітніх програм і ускладнює ефективну інтеграцію вітчизняної освіти до загальноєвропейського та світового освітнього простору.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045689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B7CE8198-5EB7-4209-BD09-AA1979FA8A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sz="6000" dirty="0"/>
              <a:t>ДЯКУЮ ЗА УВАГУ !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3985528674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158</TotalTime>
  <Words>541</Words>
  <Application>Microsoft Office PowerPoint</Application>
  <PresentationFormat>Широкоэкранный</PresentationFormat>
  <Paragraphs>59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Trebuchet MS</vt:lpstr>
      <vt:lpstr>Берлин</vt:lpstr>
      <vt:lpstr>Дизайн та аспекти  художньо-конструкторської освіти в Україні</vt:lpstr>
      <vt:lpstr>Дизайн як галузь професіональної діяльності людини</vt:lpstr>
      <vt:lpstr>                             Дизайн</vt:lpstr>
      <vt:lpstr>Основні завдання дизайну:</vt:lpstr>
      <vt:lpstr>Основні методи дизайну:</vt:lpstr>
      <vt:lpstr>Предмет дизайнерської діяльності:</vt:lpstr>
      <vt:lpstr>Основними категоріями проектної діяльності дизайнера є:</vt:lpstr>
      <vt:lpstr>Систему взаємопов’язаних функцій дизайну, що визначають його роль в формуванні культури суспільства, складають:</vt:lpstr>
      <vt:lpstr>Питання професіоналізму дизайнерів і професіоналізація самого процесу зумовили завдання підготовки дизайнерських кадрів.</vt:lpstr>
      <vt:lpstr>Теорія і методологія проведення наукових і теоретичних досліджень у сфері дизайну; інноваційні стратегії проектування об’єктів дизайну і методика викладання дизайнерських дисциплін складають методи, методики та технології цієї освіти.</vt:lpstr>
      <vt:lpstr>Модель процесу навчання художнього проектування складається з трьох блоків:</vt:lpstr>
      <vt:lpstr>Методологічні підходи до навчання:</vt:lpstr>
      <vt:lpstr>Професіоналізм дизайну базується на рішенні трьох проблем:</vt:lpstr>
      <vt:lpstr>Навчання дизайну є закономірним наслідком  виявлення позитивних світових тенденцій, наукового обґрунтування концепції розвитку дизайн-освіти та її змістовного наповнення. Зміст дизайнерської освіти має поєднувати компоненти, які сприяють розвитку у особистості навичок пізнавальної, прогностичної, конструкторсько-перетворювальної, оцінно-селективної та інших видів діяльності.</vt:lpstr>
      <vt:lpstr>Презентация PowerPoint</vt:lpstr>
      <vt:lpstr>ДЯКУЮ ЗА УВАГУ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Дизайн та аспекти  художньо-конструкторської освіти в Україні</dc:title>
  <dc:creator>Пользователь</dc:creator>
  <cp:lastModifiedBy>Пользователь</cp:lastModifiedBy>
  <cp:revision>6</cp:revision>
  <dcterms:created xsi:type="dcterms:W3CDTF">2022-12-04T13:19:48Z</dcterms:created>
  <dcterms:modified xsi:type="dcterms:W3CDTF">2023-04-23T10:49:44Z</dcterms:modified>
</cp:coreProperties>
</file>