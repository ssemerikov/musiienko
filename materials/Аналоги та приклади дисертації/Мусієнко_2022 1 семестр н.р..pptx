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C37A8-4C7D-4193-94DE-0A157772E474}" type="datetimeFigureOut">
              <a:rPr lang="ru-RU" smtClean="0"/>
              <a:t>29.03.2023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2D6C9-BA01-4F3B-BDBA-7723BD729D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130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2D6C9-BA01-4F3B-BDBA-7723BD729DC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95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0549" y="258250"/>
            <a:ext cx="8521065" cy="623570"/>
          </a:xfrm>
          <a:custGeom>
            <a:avLst/>
            <a:gdLst/>
            <a:ahLst/>
            <a:cxnLst/>
            <a:rect l="l" t="t" r="r" b="b"/>
            <a:pathLst>
              <a:path w="8521065" h="623569">
                <a:moveTo>
                  <a:pt x="8520599" y="623399"/>
                </a:moveTo>
                <a:lnTo>
                  <a:pt x="0" y="623399"/>
                </a:lnTo>
                <a:lnTo>
                  <a:pt x="0" y="0"/>
                </a:lnTo>
                <a:lnTo>
                  <a:pt x="8520599" y="0"/>
                </a:lnTo>
                <a:lnTo>
                  <a:pt x="8520599" y="6233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854524"/>
            <a:ext cx="9144000" cy="892810"/>
          </a:xfrm>
          <a:custGeom>
            <a:avLst/>
            <a:gdLst/>
            <a:ahLst/>
            <a:cxnLst/>
            <a:rect l="l" t="t" r="r" b="b"/>
            <a:pathLst>
              <a:path w="9144000" h="892810">
                <a:moveTo>
                  <a:pt x="9143999" y="892799"/>
                </a:moveTo>
                <a:lnTo>
                  <a:pt x="0" y="892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8927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38444" y="1582010"/>
            <a:ext cx="5467111" cy="863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rgbClr val="0B539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1737" y="1700922"/>
            <a:ext cx="8605520" cy="3037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4464" y="135546"/>
            <a:ext cx="3956685" cy="16351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3500" spc="35" dirty="0">
                <a:solidFill>
                  <a:srgbClr val="FFD600"/>
                </a:solidFill>
              </a:rPr>
              <a:t>Звіт</a:t>
            </a:r>
            <a:endParaRPr sz="3500" dirty="0"/>
          </a:p>
          <a:p>
            <a:pPr marL="12700" marR="5080" algn="ctr">
              <a:lnSpc>
                <a:spcPts val="4220"/>
              </a:lnSpc>
              <a:spcBef>
                <a:spcPts val="110"/>
              </a:spcBef>
            </a:pPr>
            <a:r>
              <a:rPr sz="3500" spc="100" dirty="0">
                <a:solidFill>
                  <a:srgbClr val="FFD600"/>
                </a:solidFill>
              </a:rPr>
              <a:t>за</a:t>
            </a:r>
            <a:r>
              <a:rPr sz="3500" spc="-240" dirty="0">
                <a:solidFill>
                  <a:srgbClr val="FFD600"/>
                </a:solidFill>
              </a:rPr>
              <a:t> </a:t>
            </a:r>
            <a:r>
              <a:rPr sz="3500" spc="125" dirty="0">
                <a:solidFill>
                  <a:srgbClr val="FFD600"/>
                </a:solidFill>
              </a:rPr>
              <a:t>перше</a:t>
            </a:r>
            <a:r>
              <a:rPr sz="3500" spc="-240" dirty="0">
                <a:solidFill>
                  <a:srgbClr val="FFD600"/>
                </a:solidFill>
              </a:rPr>
              <a:t> </a:t>
            </a:r>
            <a:r>
              <a:rPr sz="3500" spc="-15" dirty="0" err="1">
                <a:solidFill>
                  <a:srgbClr val="FFD600"/>
                </a:solidFill>
              </a:rPr>
              <a:t>півріччя</a:t>
            </a:r>
            <a:r>
              <a:rPr sz="3500" spc="-15" dirty="0">
                <a:solidFill>
                  <a:srgbClr val="FFD600"/>
                </a:solidFill>
              </a:rPr>
              <a:t> </a:t>
            </a:r>
            <a:r>
              <a:rPr sz="3500" spc="-1040" dirty="0">
                <a:solidFill>
                  <a:srgbClr val="FFD600"/>
                </a:solidFill>
              </a:rPr>
              <a:t> </a:t>
            </a:r>
            <a:r>
              <a:rPr sz="3500" spc="60" dirty="0">
                <a:solidFill>
                  <a:srgbClr val="FFD600"/>
                </a:solidFill>
              </a:rPr>
              <a:t>202</a:t>
            </a:r>
            <a:r>
              <a:rPr lang="uk-UA" sz="3500" spc="60" dirty="0">
                <a:solidFill>
                  <a:srgbClr val="FFD600"/>
                </a:solidFill>
              </a:rPr>
              <a:t>2</a:t>
            </a:r>
            <a:r>
              <a:rPr sz="3500" spc="60" dirty="0">
                <a:solidFill>
                  <a:srgbClr val="FFD600"/>
                </a:solidFill>
              </a:rPr>
              <a:t>/202</a:t>
            </a:r>
            <a:r>
              <a:rPr lang="uk-UA" sz="3500" spc="60" dirty="0">
                <a:solidFill>
                  <a:srgbClr val="FFD600"/>
                </a:solidFill>
              </a:rPr>
              <a:t>3</a:t>
            </a:r>
            <a:r>
              <a:rPr sz="3500" spc="-220" dirty="0">
                <a:solidFill>
                  <a:srgbClr val="FFD600"/>
                </a:solidFill>
              </a:rPr>
              <a:t> </a:t>
            </a:r>
            <a:r>
              <a:rPr sz="3500" spc="-190" dirty="0">
                <a:solidFill>
                  <a:srgbClr val="FFD600"/>
                </a:solidFill>
              </a:rPr>
              <a:t>н.р.</a:t>
            </a:r>
            <a:endParaRPr sz="3500" dirty="0"/>
          </a:p>
        </p:txBody>
      </p:sp>
      <p:sp>
        <p:nvSpPr>
          <p:cNvPr id="4" name="object 4"/>
          <p:cNvSpPr txBox="1"/>
          <p:nvPr/>
        </p:nvSpPr>
        <p:spPr>
          <a:xfrm>
            <a:off x="269975" y="1806176"/>
            <a:ext cx="8230149" cy="3340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b="1" spc="-120" dirty="0" err="1">
                <a:solidFill>
                  <a:srgbClr val="FFFFFF"/>
                </a:solidFill>
                <a:latin typeface="Tahoma"/>
                <a:cs typeface="Tahoma"/>
              </a:rPr>
              <a:t>аспіранта</a:t>
            </a:r>
            <a:r>
              <a:rPr sz="2100" b="1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uk-UA" sz="2100" b="1" spc="-770" dirty="0">
                <a:solidFill>
                  <a:srgbClr val="FFFFFF"/>
                </a:solidFill>
                <a:latin typeface="Tahoma"/>
                <a:cs typeface="Tahoma"/>
              </a:rPr>
              <a:t>1 </a:t>
            </a:r>
            <a:r>
              <a:rPr lang="uk-UA" sz="2100" b="1" spc="-114" dirty="0">
                <a:solidFill>
                  <a:srgbClr val="FFFFFF"/>
                </a:solidFill>
                <a:latin typeface="Tahoma"/>
                <a:cs typeface="Tahoma"/>
              </a:rPr>
              <a:t>  року</a:t>
            </a:r>
            <a:r>
              <a:rPr sz="21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uk-UA" sz="2100" b="1" spc="-114" dirty="0">
                <a:solidFill>
                  <a:srgbClr val="FFFFFF"/>
                </a:solidFill>
                <a:latin typeface="Tahoma"/>
                <a:cs typeface="Tahoma"/>
              </a:rPr>
              <a:t>заочної </a:t>
            </a:r>
            <a:r>
              <a:rPr sz="2100" b="1" spc="-150" dirty="0" err="1">
                <a:solidFill>
                  <a:srgbClr val="FFFFFF"/>
                </a:solidFill>
                <a:latin typeface="Tahoma"/>
                <a:cs typeface="Tahoma"/>
              </a:rPr>
              <a:t>форми</a:t>
            </a:r>
            <a:r>
              <a:rPr sz="21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35" dirty="0">
                <a:solidFill>
                  <a:srgbClr val="FFFFFF"/>
                </a:solidFill>
                <a:latin typeface="Tahoma"/>
                <a:cs typeface="Tahoma"/>
              </a:rPr>
              <a:t>навчання</a:t>
            </a:r>
            <a:endParaRPr sz="2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uk-UA" sz="2400" b="1" spc="-150" dirty="0">
                <a:solidFill>
                  <a:srgbClr val="FFFFFF"/>
                </a:solidFill>
                <a:latin typeface="Tahoma"/>
                <a:cs typeface="Tahoma"/>
              </a:rPr>
              <a:t>Мусієнка Олександра Олександровича</a:t>
            </a:r>
            <a:endParaRPr sz="2400" dirty="0">
              <a:latin typeface="Tahoma"/>
              <a:cs typeface="Tahoma"/>
            </a:endParaRPr>
          </a:p>
          <a:p>
            <a:pPr marL="12700" marR="1076325">
              <a:lnSpc>
                <a:spcPct val="101400"/>
              </a:lnSpc>
              <a:spcBef>
                <a:spcPts val="10"/>
              </a:spcBef>
            </a:pPr>
            <a:r>
              <a:rPr sz="2100" b="1" spc="-114" dirty="0">
                <a:solidFill>
                  <a:srgbClr val="FFFFFF"/>
                </a:solidFill>
                <a:latin typeface="Tahoma"/>
                <a:cs typeface="Tahoma"/>
              </a:rPr>
              <a:t>Спеціальність</a:t>
            </a:r>
            <a:r>
              <a:rPr sz="210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215" dirty="0">
                <a:solidFill>
                  <a:srgbClr val="FFFFFF"/>
                </a:solidFill>
                <a:latin typeface="Tahoma"/>
                <a:cs typeface="Tahoma"/>
              </a:rPr>
              <a:t>015</a:t>
            </a:r>
            <a:r>
              <a:rPr sz="210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35" dirty="0">
                <a:solidFill>
                  <a:srgbClr val="FFFFFF"/>
                </a:solidFill>
                <a:latin typeface="Tahoma"/>
                <a:cs typeface="Tahoma"/>
              </a:rPr>
              <a:t>Професійна</a:t>
            </a:r>
            <a:r>
              <a:rPr sz="210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10" dirty="0">
                <a:solidFill>
                  <a:srgbClr val="FFFFFF"/>
                </a:solidFill>
                <a:latin typeface="Tahoma"/>
                <a:cs typeface="Tahoma"/>
              </a:rPr>
              <a:t>освіта</a:t>
            </a:r>
            <a:r>
              <a:rPr sz="210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45" dirty="0">
                <a:solidFill>
                  <a:srgbClr val="FFFFFF"/>
                </a:solidFill>
                <a:latin typeface="Tahoma"/>
                <a:cs typeface="Tahoma"/>
              </a:rPr>
              <a:t>(Цифрові</a:t>
            </a:r>
            <a:r>
              <a:rPr sz="210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25" dirty="0">
                <a:solidFill>
                  <a:srgbClr val="FFFFFF"/>
                </a:solidFill>
                <a:latin typeface="Tahoma"/>
                <a:cs typeface="Tahoma"/>
              </a:rPr>
              <a:t>технології) </a:t>
            </a:r>
            <a:r>
              <a:rPr sz="2100" b="1" spc="-6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45" dirty="0">
                <a:solidFill>
                  <a:srgbClr val="FFFFFF"/>
                </a:solidFill>
                <a:latin typeface="Tahoma"/>
                <a:cs typeface="Tahoma"/>
              </a:rPr>
              <a:t>Кафедра</a:t>
            </a:r>
            <a:r>
              <a:rPr sz="2100" b="1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25" dirty="0">
                <a:solidFill>
                  <a:srgbClr val="FFFFFF"/>
                </a:solidFill>
                <a:latin typeface="Tahoma"/>
                <a:cs typeface="Tahoma"/>
              </a:rPr>
              <a:t>інформатики</a:t>
            </a:r>
            <a:r>
              <a:rPr sz="2100" b="1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14" dirty="0">
                <a:solidFill>
                  <a:srgbClr val="FFFFFF"/>
                </a:solidFill>
                <a:latin typeface="Tahoma"/>
                <a:cs typeface="Tahoma"/>
              </a:rPr>
              <a:t>та</a:t>
            </a:r>
            <a:r>
              <a:rPr sz="2100" b="1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20" dirty="0">
                <a:solidFill>
                  <a:srgbClr val="FFFFFF"/>
                </a:solidFill>
                <a:latin typeface="Tahoma"/>
                <a:cs typeface="Tahoma"/>
              </a:rPr>
              <a:t>прикладної</a:t>
            </a:r>
            <a:r>
              <a:rPr sz="2100" b="1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35" dirty="0">
                <a:solidFill>
                  <a:srgbClr val="FFFFFF"/>
                </a:solidFill>
                <a:latin typeface="Tahoma"/>
                <a:cs typeface="Tahoma"/>
              </a:rPr>
              <a:t>математики</a:t>
            </a:r>
            <a:endParaRPr sz="2100" dirty="0">
              <a:latin typeface="Tahoma"/>
              <a:cs typeface="Tahoma"/>
            </a:endParaRPr>
          </a:p>
          <a:p>
            <a:pPr marL="12700" marR="5080">
              <a:lnSpc>
                <a:spcPct val="101499"/>
              </a:lnSpc>
            </a:pPr>
            <a:endParaRPr lang="uk-UA" sz="2100" b="1" spc="-140" dirty="0">
              <a:solidFill>
                <a:srgbClr val="FFFFFF"/>
              </a:solidFill>
              <a:latin typeface="Tahoma"/>
              <a:cs typeface="Tahoma"/>
            </a:endParaRPr>
          </a:p>
          <a:p>
            <a:pPr marL="12700" marR="5080">
              <a:lnSpc>
                <a:spcPct val="101499"/>
              </a:lnSpc>
            </a:pPr>
            <a:r>
              <a:rPr sz="2100" b="1" spc="-140" dirty="0" err="1">
                <a:solidFill>
                  <a:srgbClr val="FFFFFF"/>
                </a:solidFill>
                <a:latin typeface="Tahoma"/>
                <a:cs typeface="Tahoma"/>
              </a:rPr>
              <a:t>Науковий</a:t>
            </a:r>
            <a:r>
              <a:rPr sz="2100" b="1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25" dirty="0">
                <a:solidFill>
                  <a:srgbClr val="FFFFFF"/>
                </a:solidFill>
                <a:latin typeface="Tahoma"/>
                <a:cs typeface="Tahoma"/>
              </a:rPr>
              <a:t>керівник: </a:t>
            </a:r>
            <a:r>
              <a:rPr lang="uk-UA" sz="2400" b="1" spc="-155" dirty="0">
                <a:solidFill>
                  <a:srgbClr val="FFFFFF"/>
                </a:solidFill>
                <a:latin typeface="Tahoma"/>
                <a:cs typeface="Tahoma"/>
              </a:rPr>
              <a:t>Осадча Катерина Петрівна, </a:t>
            </a:r>
            <a:r>
              <a:rPr sz="2100" b="1" spc="-120" dirty="0" err="1">
                <a:solidFill>
                  <a:srgbClr val="FFFFFF"/>
                </a:solidFill>
                <a:latin typeface="Tahoma"/>
                <a:cs typeface="Tahoma"/>
              </a:rPr>
              <a:t>доктор</a:t>
            </a:r>
            <a:r>
              <a:rPr sz="21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35" dirty="0" err="1">
                <a:solidFill>
                  <a:srgbClr val="FFFFFF"/>
                </a:solidFill>
                <a:latin typeface="Tahoma"/>
                <a:cs typeface="Tahoma"/>
              </a:rPr>
              <a:t>пед</a:t>
            </a:r>
            <a:r>
              <a:rPr lang="uk-UA" sz="2100" b="1" spc="-135" dirty="0" err="1">
                <a:solidFill>
                  <a:srgbClr val="FFFFFF"/>
                </a:solidFill>
                <a:latin typeface="Tahoma"/>
                <a:cs typeface="Tahoma"/>
              </a:rPr>
              <a:t>агогічних</a:t>
            </a:r>
            <a:r>
              <a:rPr sz="2100" b="1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00" b="1" spc="-100" dirty="0">
                <a:solidFill>
                  <a:srgbClr val="FFFFFF"/>
                </a:solidFill>
                <a:latin typeface="Tahoma"/>
                <a:cs typeface="Tahoma"/>
              </a:rPr>
              <a:t>наук,</a:t>
            </a:r>
            <a:r>
              <a:rPr sz="21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ru-RU" sz="2100" b="1" spc="-185" dirty="0" err="1">
                <a:solidFill>
                  <a:srgbClr val="FFFFFF"/>
                </a:solidFill>
                <a:latin typeface="Tahoma"/>
                <a:cs typeface="Tahoma"/>
              </a:rPr>
              <a:t>професор</a:t>
            </a:r>
            <a:r>
              <a:rPr lang="ru-RU" sz="21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ru-RU" sz="2100" b="1" spc="-185" dirty="0" err="1">
                <a:solidFill>
                  <a:srgbClr val="FFFFFF"/>
                </a:solidFill>
                <a:latin typeface="Tahoma"/>
                <a:cs typeface="Tahoma"/>
              </a:rPr>
              <a:t>кафедри</a:t>
            </a:r>
            <a:r>
              <a:rPr lang="ru-RU" sz="21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ru-RU" sz="2100" b="1" spc="-185" dirty="0" err="1">
                <a:solidFill>
                  <a:srgbClr val="FFFFFF"/>
                </a:solidFill>
                <a:latin typeface="Tahoma"/>
                <a:cs typeface="Tahoma"/>
              </a:rPr>
              <a:t>інформатики</a:t>
            </a:r>
            <a:r>
              <a:rPr lang="ru-RU" sz="2100" b="1" spc="-185" dirty="0">
                <a:solidFill>
                  <a:srgbClr val="FFFFFF"/>
                </a:solidFill>
                <a:latin typeface="Tahoma"/>
                <a:cs typeface="Tahoma"/>
              </a:rPr>
              <a:t> і </a:t>
            </a:r>
            <a:r>
              <a:rPr lang="ru-RU" sz="2100" b="1" spc="-185" dirty="0" err="1">
                <a:solidFill>
                  <a:srgbClr val="FFFFFF"/>
                </a:solidFill>
                <a:latin typeface="Tahoma"/>
                <a:cs typeface="Tahoma"/>
              </a:rPr>
              <a:t>кібернетики</a:t>
            </a:r>
            <a:r>
              <a:rPr lang="ru-RU" sz="21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ru-RU" sz="2100" b="1" spc="-185" dirty="0" err="1">
                <a:solidFill>
                  <a:srgbClr val="FFFFFF"/>
                </a:solidFill>
                <a:latin typeface="Tahoma"/>
                <a:cs typeface="Tahoma"/>
              </a:rPr>
              <a:t>Мелітопольського</a:t>
            </a:r>
            <a:r>
              <a:rPr lang="ru-RU" sz="2100" b="1" spc="-185" dirty="0">
                <a:solidFill>
                  <a:srgbClr val="FFFFFF"/>
                </a:solidFill>
                <a:latin typeface="Tahoma"/>
                <a:cs typeface="Tahoma"/>
              </a:rPr>
              <a:t> державного </a:t>
            </a:r>
            <a:r>
              <a:rPr lang="ru-RU" sz="2100" b="1" spc="-185" dirty="0" err="1">
                <a:solidFill>
                  <a:srgbClr val="FFFFFF"/>
                </a:solidFill>
                <a:latin typeface="Tahoma"/>
                <a:cs typeface="Tahoma"/>
              </a:rPr>
              <a:t>педагогічного</a:t>
            </a:r>
            <a:r>
              <a:rPr lang="ru-RU" sz="21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ru-RU" sz="2100" b="1" spc="-185" dirty="0" err="1">
                <a:solidFill>
                  <a:srgbClr val="FFFFFF"/>
                </a:solidFill>
                <a:latin typeface="Tahoma"/>
                <a:cs typeface="Tahoma"/>
              </a:rPr>
              <a:t>університету</a:t>
            </a:r>
            <a:r>
              <a:rPr lang="ru-RU" sz="2100" b="1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ru-RU" sz="2100" b="1" spc="-185" dirty="0" err="1">
                <a:solidFill>
                  <a:srgbClr val="FFFFFF"/>
                </a:solidFill>
                <a:latin typeface="Tahoma"/>
                <a:cs typeface="Tahoma"/>
              </a:rPr>
              <a:t>імені</a:t>
            </a:r>
            <a:r>
              <a:rPr lang="ru-RU" sz="2100" b="1" spc="-185" dirty="0">
                <a:solidFill>
                  <a:srgbClr val="FFFFFF"/>
                </a:solidFill>
                <a:latin typeface="Tahoma"/>
                <a:cs typeface="Tahoma"/>
              </a:rPr>
              <a:t> Богдана </a:t>
            </a:r>
            <a:r>
              <a:rPr lang="ru-RU" sz="2100" b="1" spc="-185" dirty="0" err="1">
                <a:solidFill>
                  <a:srgbClr val="FFFFFF"/>
                </a:solidFill>
                <a:latin typeface="Tahoma"/>
                <a:cs typeface="Tahoma"/>
              </a:rPr>
              <a:t>Хмельницького</a:t>
            </a:r>
            <a:endParaRPr sz="21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8950" y="168750"/>
            <a:ext cx="2491174" cy="2491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025" y="293634"/>
            <a:ext cx="31515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320" dirty="0"/>
              <a:t>1.</a:t>
            </a:r>
            <a:r>
              <a:rPr sz="2700" spc="-170" dirty="0"/>
              <a:t> </a:t>
            </a:r>
            <a:r>
              <a:rPr sz="2700" spc="140" dirty="0"/>
              <a:t>Н</a:t>
            </a:r>
            <a:r>
              <a:rPr sz="2700" spc="50" dirty="0"/>
              <a:t>а</a:t>
            </a:r>
            <a:r>
              <a:rPr sz="2700" spc="40" dirty="0"/>
              <a:t>у</a:t>
            </a:r>
            <a:r>
              <a:rPr sz="2700" spc="-35" dirty="0"/>
              <a:t>к</a:t>
            </a:r>
            <a:r>
              <a:rPr sz="2700" spc="85" dirty="0"/>
              <a:t>ова</a:t>
            </a:r>
            <a:r>
              <a:rPr sz="2700" spc="-170" dirty="0"/>
              <a:t> </a:t>
            </a:r>
            <a:r>
              <a:rPr sz="2700" spc="95" dirty="0"/>
              <a:t>робо</a:t>
            </a:r>
            <a:r>
              <a:rPr sz="2700" spc="75" dirty="0"/>
              <a:t>т</a:t>
            </a:r>
            <a:r>
              <a:rPr sz="2700" spc="-110" dirty="0"/>
              <a:t>а:</a:t>
            </a:r>
            <a:endParaRPr sz="2700"/>
          </a:p>
        </p:txBody>
      </p:sp>
      <p:sp>
        <p:nvSpPr>
          <p:cNvPr id="3" name="object 3"/>
          <p:cNvSpPr/>
          <p:nvPr/>
        </p:nvSpPr>
        <p:spPr>
          <a:xfrm>
            <a:off x="0" y="1871499"/>
            <a:ext cx="9144000" cy="2032000"/>
          </a:xfrm>
          <a:custGeom>
            <a:avLst/>
            <a:gdLst/>
            <a:ahLst/>
            <a:cxnLst/>
            <a:rect l="l" t="t" r="r" b="b"/>
            <a:pathLst>
              <a:path w="9144000" h="2032000">
                <a:moveTo>
                  <a:pt x="9143999" y="2031899"/>
                </a:moveTo>
                <a:lnTo>
                  <a:pt x="0" y="20318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0318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025" y="1116593"/>
            <a:ext cx="8686800" cy="269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0865" indent="-43688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570230" algn="l"/>
                <a:tab pos="571500" algn="l"/>
              </a:tabLst>
            </a:pPr>
            <a:r>
              <a:rPr sz="2700" b="1" spc="70" dirty="0">
                <a:solidFill>
                  <a:srgbClr val="0B5394"/>
                </a:solidFill>
                <a:latin typeface="Trebuchet MS"/>
                <a:cs typeface="Trebuchet MS"/>
              </a:rPr>
              <a:t>Вибір</a:t>
            </a:r>
            <a:r>
              <a:rPr sz="2700" b="1" spc="-19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35" dirty="0">
                <a:solidFill>
                  <a:srgbClr val="0B5394"/>
                </a:solidFill>
                <a:latin typeface="Trebuchet MS"/>
                <a:cs typeface="Trebuchet MS"/>
              </a:rPr>
              <a:t>теми</a:t>
            </a:r>
            <a:r>
              <a:rPr sz="2700" b="1" spc="-19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25" dirty="0">
                <a:solidFill>
                  <a:srgbClr val="0B5394"/>
                </a:solidFill>
                <a:latin typeface="Trebuchet MS"/>
                <a:cs typeface="Trebuchet MS"/>
              </a:rPr>
              <a:t>дисертації</a:t>
            </a:r>
            <a:endParaRPr sz="27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00" dirty="0">
              <a:latin typeface="Trebuchet MS"/>
              <a:cs typeface="Trebuchet MS"/>
            </a:endParaRPr>
          </a:p>
          <a:p>
            <a:pPr marR="5551805" algn="ctr">
              <a:lnSpc>
                <a:spcPct val="100000"/>
              </a:lnSpc>
              <a:spcBef>
                <a:spcPts val="5"/>
              </a:spcBef>
            </a:pPr>
            <a:r>
              <a:rPr sz="3000" b="1" spc="-395" dirty="0">
                <a:solidFill>
                  <a:srgbClr val="F1C131"/>
                </a:solidFill>
                <a:latin typeface="Trebuchet MS"/>
                <a:cs typeface="Trebuchet MS"/>
              </a:rPr>
              <a:t>Т</a:t>
            </a:r>
            <a:r>
              <a:rPr sz="3000" b="1" spc="70" dirty="0">
                <a:solidFill>
                  <a:srgbClr val="F1C131"/>
                </a:solidFill>
                <a:latin typeface="Trebuchet MS"/>
                <a:cs typeface="Trebuchet MS"/>
              </a:rPr>
              <a:t>ема</a:t>
            </a:r>
            <a:r>
              <a:rPr sz="3000" b="1" spc="-185" dirty="0">
                <a:solidFill>
                  <a:srgbClr val="F1C131"/>
                </a:solidFill>
                <a:latin typeface="Trebuchet MS"/>
                <a:cs typeface="Trebuchet MS"/>
              </a:rPr>
              <a:t> </a:t>
            </a:r>
            <a:r>
              <a:rPr sz="3000" b="1" spc="70" dirty="0">
                <a:solidFill>
                  <a:srgbClr val="F1C131"/>
                </a:solidFill>
                <a:latin typeface="Trebuchet MS"/>
                <a:cs typeface="Trebuchet MS"/>
              </a:rPr>
              <a:t>ди</a:t>
            </a:r>
            <a:r>
              <a:rPr sz="3000" b="1" spc="40" dirty="0">
                <a:solidFill>
                  <a:srgbClr val="F1C131"/>
                </a:solidFill>
                <a:latin typeface="Trebuchet MS"/>
                <a:cs typeface="Trebuchet MS"/>
              </a:rPr>
              <a:t>с</a:t>
            </a:r>
            <a:r>
              <a:rPr sz="3000" b="1" spc="80" dirty="0">
                <a:solidFill>
                  <a:srgbClr val="F1C131"/>
                </a:solidFill>
                <a:latin typeface="Trebuchet MS"/>
                <a:cs typeface="Trebuchet MS"/>
              </a:rPr>
              <a:t>ер</a:t>
            </a:r>
            <a:r>
              <a:rPr sz="3000" b="1" spc="60" dirty="0">
                <a:solidFill>
                  <a:srgbClr val="F1C131"/>
                </a:solidFill>
                <a:latin typeface="Trebuchet MS"/>
                <a:cs typeface="Trebuchet MS"/>
              </a:rPr>
              <a:t>т</a:t>
            </a:r>
            <a:r>
              <a:rPr sz="3000" b="1" spc="-100" dirty="0">
                <a:solidFill>
                  <a:srgbClr val="F1C131"/>
                </a:solidFill>
                <a:latin typeface="Trebuchet MS"/>
                <a:cs typeface="Trebuchet MS"/>
              </a:rPr>
              <a:t>ації:</a:t>
            </a:r>
            <a:endParaRPr sz="3000" dirty="0">
              <a:latin typeface="Trebuchet MS"/>
              <a:cs typeface="Trebuchet MS"/>
            </a:endParaRPr>
          </a:p>
          <a:p>
            <a:pPr marL="323850" marR="5080" algn="ctr">
              <a:lnSpc>
                <a:spcPct val="100000"/>
              </a:lnSpc>
            </a:pPr>
            <a:r>
              <a:rPr sz="3000" b="1" spc="15" dirty="0">
                <a:solidFill>
                  <a:srgbClr val="F1C131"/>
                </a:solidFill>
                <a:latin typeface="Trebuchet MS"/>
                <a:cs typeface="Trebuchet MS"/>
              </a:rPr>
              <a:t>“</a:t>
            </a:r>
            <a:r>
              <a:rPr sz="3000" b="1" spc="15" dirty="0" err="1">
                <a:solidFill>
                  <a:srgbClr val="F1C131"/>
                </a:solidFill>
                <a:latin typeface="Trebuchet MS"/>
                <a:cs typeface="Trebuchet MS"/>
              </a:rPr>
              <a:t>Формування</a:t>
            </a:r>
            <a:r>
              <a:rPr sz="3000" b="1" spc="-190" dirty="0">
                <a:solidFill>
                  <a:srgbClr val="F1C131"/>
                </a:solidFill>
                <a:latin typeface="Trebuchet MS"/>
                <a:cs typeface="Trebuchet MS"/>
              </a:rPr>
              <a:t> </a:t>
            </a:r>
            <a:r>
              <a:rPr lang="uk-UA" sz="3000" b="1" spc="45" dirty="0">
                <a:solidFill>
                  <a:srgbClr val="F1C131"/>
                </a:solidFill>
                <a:latin typeface="Trebuchet MS"/>
                <a:cs typeface="Trebuchet MS"/>
              </a:rPr>
              <a:t>інформаційно-комунікативної компетентності в процесі фахової підготовки майбутніх дизайнерів</a:t>
            </a:r>
            <a:r>
              <a:rPr sz="3000" b="1" spc="-20" dirty="0">
                <a:solidFill>
                  <a:srgbClr val="F1C131"/>
                </a:solidFill>
                <a:latin typeface="Trebuchet MS"/>
                <a:cs typeface="Trebuchet MS"/>
              </a:rPr>
              <a:t>”</a:t>
            </a:r>
            <a:endParaRPr sz="3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25" y="1143"/>
            <a:ext cx="8538210" cy="4641215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694690" indent="-436245">
              <a:lnSpc>
                <a:spcPct val="100000"/>
              </a:lnSpc>
              <a:spcBef>
                <a:spcPts val="1720"/>
              </a:spcBef>
              <a:buFont typeface="Arial"/>
              <a:buChar char="●"/>
              <a:tabLst>
                <a:tab pos="694690" algn="l"/>
                <a:tab pos="695325" algn="l"/>
              </a:tabLst>
            </a:pPr>
            <a:r>
              <a:rPr sz="2700" b="1" spc="40" dirty="0" err="1">
                <a:solidFill>
                  <a:srgbClr val="0B5394"/>
                </a:solidFill>
                <a:latin typeface="Trebuchet MS"/>
                <a:cs typeface="Trebuchet MS"/>
              </a:rPr>
              <a:t>Обґрунтування</a:t>
            </a:r>
            <a:r>
              <a:rPr sz="2700" b="1" spc="-195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35" dirty="0" err="1">
                <a:solidFill>
                  <a:srgbClr val="0B5394"/>
                </a:solidFill>
                <a:latin typeface="Trebuchet MS"/>
                <a:cs typeface="Trebuchet MS"/>
              </a:rPr>
              <a:t>актуальності</a:t>
            </a:r>
            <a:r>
              <a:rPr lang="uk-UA" sz="2700" b="1" spc="35" dirty="0">
                <a:solidFill>
                  <a:srgbClr val="0B5394"/>
                </a:solidFill>
                <a:latin typeface="Trebuchet MS"/>
                <a:cs typeface="Trebuchet MS"/>
              </a:rPr>
              <a:t>.</a:t>
            </a:r>
            <a:endParaRPr sz="2700" dirty="0">
              <a:latin typeface="Trebuchet MS"/>
              <a:cs typeface="Trebuchet MS"/>
            </a:endParaRPr>
          </a:p>
          <a:p>
            <a:pPr marL="694690" marR="5080" indent="-436245">
              <a:lnSpc>
                <a:spcPct val="150000"/>
              </a:lnSpc>
              <a:buFont typeface="Arial"/>
              <a:buChar char="●"/>
              <a:tabLst>
                <a:tab pos="694690" algn="l"/>
                <a:tab pos="695325" algn="l"/>
              </a:tabLst>
            </a:pPr>
            <a:r>
              <a:rPr sz="2700" b="1" spc="45" dirty="0">
                <a:solidFill>
                  <a:srgbClr val="0B5394"/>
                </a:solidFill>
                <a:latin typeface="Trebuchet MS"/>
                <a:cs typeface="Trebuchet MS"/>
              </a:rPr>
              <a:t>Визначення</a:t>
            </a:r>
            <a:r>
              <a:rPr sz="2700" b="1" spc="-165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30" dirty="0">
                <a:solidFill>
                  <a:srgbClr val="0B5394"/>
                </a:solidFill>
                <a:latin typeface="Trebuchet MS"/>
                <a:cs typeface="Trebuchet MS"/>
              </a:rPr>
              <a:t>теоретичної</a:t>
            </a:r>
            <a:r>
              <a:rPr sz="2700" b="1" spc="-165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60" dirty="0">
                <a:solidFill>
                  <a:srgbClr val="0B5394"/>
                </a:solidFill>
                <a:latin typeface="Trebuchet MS"/>
                <a:cs typeface="Trebuchet MS"/>
              </a:rPr>
              <a:t>та</a:t>
            </a:r>
            <a:r>
              <a:rPr sz="2700" b="1" spc="-165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20" dirty="0">
                <a:solidFill>
                  <a:srgbClr val="0B5394"/>
                </a:solidFill>
                <a:latin typeface="Trebuchet MS"/>
                <a:cs typeface="Trebuchet MS"/>
              </a:rPr>
              <a:t>методичної</a:t>
            </a:r>
            <a:r>
              <a:rPr sz="2700" b="1" spc="-16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5" dirty="0">
                <a:solidFill>
                  <a:srgbClr val="0B5394"/>
                </a:solidFill>
                <a:latin typeface="Trebuchet MS"/>
                <a:cs typeface="Trebuchet MS"/>
              </a:rPr>
              <a:t>основ, </a:t>
            </a:r>
            <a:r>
              <a:rPr sz="2700" b="1" spc="-80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dirty="0">
                <a:solidFill>
                  <a:srgbClr val="0B5394"/>
                </a:solidFill>
                <a:latin typeface="Trebuchet MS"/>
                <a:cs typeface="Trebuchet MS"/>
              </a:rPr>
              <a:t>об'єкта,</a:t>
            </a:r>
            <a:r>
              <a:rPr sz="2700" b="1" spc="-175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50" dirty="0">
                <a:solidFill>
                  <a:srgbClr val="0B5394"/>
                </a:solidFill>
                <a:latin typeface="Trebuchet MS"/>
                <a:cs typeface="Trebuchet MS"/>
              </a:rPr>
              <a:t>предмета</a:t>
            </a:r>
            <a:r>
              <a:rPr sz="2700" b="1" spc="-17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5" dirty="0">
                <a:solidFill>
                  <a:srgbClr val="0B5394"/>
                </a:solidFill>
                <a:latin typeface="Trebuchet MS"/>
                <a:cs typeface="Trebuchet MS"/>
              </a:rPr>
              <a:t>дослідження,</a:t>
            </a:r>
            <a:r>
              <a:rPr sz="2700" b="1" spc="-17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35" dirty="0" err="1">
                <a:solidFill>
                  <a:srgbClr val="0B5394"/>
                </a:solidFill>
                <a:latin typeface="Trebuchet MS"/>
                <a:cs typeface="Trebuchet MS"/>
              </a:rPr>
              <a:t>мети</a:t>
            </a:r>
            <a:r>
              <a:rPr lang="uk-UA" sz="2700" b="1" spc="35" dirty="0">
                <a:solidFill>
                  <a:srgbClr val="0B5394"/>
                </a:solidFill>
                <a:latin typeface="Trebuchet MS"/>
                <a:cs typeface="Trebuchet MS"/>
              </a:rPr>
              <a:t>.</a:t>
            </a:r>
            <a:endParaRPr sz="2700" dirty="0">
              <a:latin typeface="Trebuchet MS"/>
              <a:cs typeface="Trebuchet MS"/>
            </a:endParaRPr>
          </a:p>
          <a:p>
            <a:pPr marL="694690" indent="-436245">
              <a:lnSpc>
                <a:spcPct val="100000"/>
              </a:lnSpc>
              <a:spcBef>
                <a:spcPts val="1620"/>
              </a:spcBef>
              <a:buFont typeface="Arial"/>
              <a:buChar char="●"/>
              <a:tabLst>
                <a:tab pos="694690" algn="l"/>
                <a:tab pos="695325" algn="l"/>
              </a:tabLst>
            </a:pPr>
            <a:r>
              <a:rPr sz="2700" b="1" spc="60" dirty="0">
                <a:solidFill>
                  <a:srgbClr val="0B5394"/>
                </a:solidFill>
                <a:latin typeface="Trebuchet MS"/>
                <a:cs typeface="Trebuchet MS"/>
              </a:rPr>
              <a:t>Складання</a:t>
            </a:r>
            <a:r>
              <a:rPr sz="2700" b="1" spc="-17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35" dirty="0">
                <a:solidFill>
                  <a:srgbClr val="0B5394"/>
                </a:solidFill>
                <a:latin typeface="Trebuchet MS"/>
                <a:cs typeface="Trebuchet MS"/>
              </a:rPr>
              <a:t>пла</a:t>
            </a:r>
            <a:r>
              <a:rPr sz="2700" b="1" spc="10" dirty="0">
                <a:solidFill>
                  <a:srgbClr val="0B5394"/>
                </a:solidFill>
                <a:latin typeface="Trebuchet MS"/>
                <a:cs typeface="Trebuchet MS"/>
              </a:rPr>
              <a:t>н</a:t>
            </a:r>
            <a:r>
              <a:rPr sz="2700" b="1" spc="20" dirty="0">
                <a:solidFill>
                  <a:srgbClr val="0B5394"/>
                </a:solidFill>
                <a:latin typeface="Trebuchet MS"/>
                <a:cs typeface="Trebuchet MS"/>
              </a:rPr>
              <a:t>у</a:t>
            </a:r>
            <a:r>
              <a:rPr sz="2700" b="1" spc="-235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60" dirty="0" err="1">
                <a:solidFill>
                  <a:srgbClr val="0B5394"/>
                </a:solidFill>
                <a:latin typeface="Trebuchet MS"/>
                <a:cs typeface="Trebuchet MS"/>
              </a:rPr>
              <a:t>ди</a:t>
            </a:r>
            <a:r>
              <a:rPr sz="2700" b="1" spc="35" dirty="0" err="1">
                <a:solidFill>
                  <a:srgbClr val="0B5394"/>
                </a:solidFill>
                <a:latin typeface="Trebuchet MS"/>
                <a:cs typeface="Trebuchet MS"/>
              </a:rPr>
              <a:t>с</a:t>
            </a:r>
            <a:r>
              <a:rPr sz="2700" b="1" spc="75" dirty="0" err="1">
                <a:solidFill>
                  <a:srgbClr val="0B5394"/>
                </a:solidFill>
                <a:latin typeface="Trebuchet MS"/>
                <a:cs typeface="Trebuchet MS"/>
              </a:rPr>
              <a:t>ер</a:t>
            </a:r>
            <a:r>
              <a:rPr sz="2700" b="1" spc="55" dirty="0" err="1">
                <a:solidFill>
                  <a:srgbClr val="0B5394"/>
                </a:solidFill>
                <a:latin typeface="Trebuchet MS"/>
                <a:cs typeface="Trebuchet MS"/>
              </a:rPr>
              <a:t>т</a:t>
            </a:r>
            <a:r>
              <a:rPr sz="2700" b="1" spc="5" dirty="0" err="1">
                <a:solidFill>
                  <a:srgbClr val="0B5394"/>
                </a:solidFill>
                <a:latin typeface="Trebuchet MS"/>
                <a:cs typeface="Trebuchet MS"/>
              </a:rPr>
              <a:t>аційної</a:t>
            </a:r>
            <a:r>
              <a:rPr sz="2700" b="1" spc="-17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80" dirty="0" err="1">
                <a:solidFill>
                  <a:srgbClr val="0B5394"/>
                </a:solidFill>
                <a:latin typeface="Trebuchet MS"/>
                <a:cs typeface="Trebuchet MS"/>
              </a:rPr>
              <a:t>роботи</a:t>
            </a:r>
            <a:r>
              <a:rPr lang="uk-UA" sz="2700" b="1" spc="80" dirty="0">
                <a:solidFill>
                  <a:srgbClr val="0B5394"/>
                </a:solidFill>
                <a:latin typeface="Trebuchet MS"/>
                <a:cs typeface="Trebuchet MS"/>
              </a:rPr>
              <a:t>.</a:t>
            </a:r>
            <a:endParaRPr sz="2700" dirty="0">
              <a:latin typeface="Trebuchet MS"/>
              <a:cs typeface="Trebuchet MS"/>
            </a:endParaRPr>
          </a:p>
          <a:p>
            <a:pPr marL="694690" marR="2023110" indent="-436245">
              <a:lnSpc>
                <a:spcPct val="150000"/>
              </a:lnSpc>
              <a:buFont typeface="Arial"/>
              <a:buChar char="●"/>
              <a:tabLst>
                <a:tab pos="694690" algn="l"/>
                <a:tab pos="695325" algn="l"/>
              </a:tabLst>
            </a:pPr>
            <a:r>
              <a:rPr sz="2700" b="1" spc="125" dirty="0" err="1">
                <a:solidFill>
                  <a:srgbClr val="0B5394"/>
                </a:solidFill>
                <a:latin typeface="Trebuchet MS"/>
                <a:cs typeface="Trebuchet MS"/>
              </a:rPr>
              <a:t>О</a:t>
            </a:r>
            <a:r>
              <a:rPr sz="2700" b="1" spc="65" dirty="0" err="1">
                <a:solidFill>
                  <a:srgbClr val="0B5394"/>
                </a:solidFill>
                <a:latin typeface="Trebuchet MS"/>
                <a:cs typeface="Trebuchet MS"/>
              </a:rPr>
              <a:t>працювання</a:t>
            </a:r>
            <a:r>
              <a:rPr sz="2700" b="1" spc="-17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lang="uk-UA" sz="2700" b="1" spc="-90" dirty="0">
                <a:solidFill>
                  <a:srgbClr val="0B5394"/>
                </a:solidFill>
                <a:latin typeface="Trebuchet MS"/>
                <a:cs typeface="Trebuchet MS"/>
              </a:rPr>
              <a:t>60</a:t>
            </a:r>
            <a:r>
              <a:rPr sz="2700" b="1" spc="-17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45" dirty="0">
                <a:solidFill>
                  <a:srgbClr val="0B5394"/>
                </a:solidFill>
                <a:latin typeface="Trebuchet MS"/>
                <a:cs typeface="Trebuchet MS"/>
              </a:rPr>
              <a:t>першоджерел,</a:t>
            </a:r>
            <a:r>
              <a:rPr sz="2700" b="1" spc="-170" dirty="0">
                <a:solidFill>
                  <a:srgbClr val="0B5394"/>
                </a:solidFill>
                <a:latin typeface="Trebuchet MS"/>
                <a:cs typeface="Trebuchet MS"/>
              </a:rPr>
              <a:t> </a:t>
            </a:r>
            <a:r>
              <a:rPr sz="2700" b="1" spc="-90" dirty="0" err="1">
                <a:solidFill>
                  <a:srgbClr val="0B5394"/>
                </a:solidFill>
                <a:latin typeface="Trebuchet MS"/>
                <a:cs typeface="Trebuchet MS"/>
              </a:rPr>
              <a:t>їх</a:t>
            </a:r>
            <a:r>
              <a:rPr sz="2700" b="1" spc="-90" dirty="0">
                <a:solidFill>
                  <a:srgbClr val="0B5394"/>
                </a:solidFill>
                <a:latin typeface="Trebuchet MS"/>
                <a:cs typeface="Trebuchet MS"/>
              </a:rPr>
              <a:t>  </a:t>
            </a:r>
            <a:r>
              <a:rPr sz="2700" b="1" spc="25" dirty="0">
                <a:solidFill>
                  <a:srgbClr val="0B5394"/>
                </a:solidFill>
                <a:latin typeface="Trebuchet MS"/>
                <a:cs typeface="Trebuchet MS"/>
              </a:rPr>
              <a:t>у</a:t>
            </a:r>
            <a:r>
              <a:rPr lang="uk-UA" sz="2700" b="1" spc="25" dirty="0" err="1">
                <a:solidFill>
                  <a:srgbClr val="0B5394"/>
                </a:solidFill>
                <a:latin typeface="Trebuchet MS"/>
                <a:cs typeface="Trebuchet MS"/>
              </a:rPr>
              <a:t>бґ</a:t>
            </a:r>
            <a:r>
              <a:rPr sz="2700" b="1" spc="25" dirty="0" err="1">
                <a:solidFill>
                  <a:srgbClr val="0B5394"/>
                </a:solidFill>
                <a:latin typeface="Trebuchet MS"/>
                <a:cs typeface="Trebuchet MS"/>
              </a:rPr>
              <a:t>рунтування</a:t>
            </a:r>
            <a:r>
              <a:rPr lang="uk-UA" sz="2700" b="1" spc="25" dirty="0">
                <a:solidFill>
                  <a:srgbClr val="0B5394"/>
                </a:solidFill>
                <a:latin typeface="Trebuchet MS"/>
                <a:cs typeface="Trebuchet MS"/>
              </a:rPr>
              <a:t>.</a:t>
            </a:r>
            <a:endParaRPr sz="27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65"/>
              </a:spcBef>
            </a:pPr>
            <a:r>
              <a:rPr sz="2300" b="1" dirty="0">
                <a:solidFill>
                  <a:srgbClr val="FFD966"/>
                </a:solidFill>
                <a:latin typeface="Trebuchet MS"/>
                <a:cs typeface="Trebuchet MS"/>
              </a:rPr>
              <a:t>Кількість</a:t>
            </a:r>
            <a:r>
              <a:rPr sz="23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300" b="1" spc="5" dirty="0">
                <a:solidFill>
                  <a:srgbClr val="FFD966"/>
                </a:solidFill>
                <a:latin typeface="Trebuchet MS"/>
                <a:cs typeface="Trebuchet MS"/>
              </a:rPr>
              <a:t>публікацій</a:t>
            </a:r>
            <a:r>
              <a:rPr sz="23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300" b="1" spc="60" dirty="0">
                <a:solidFill>
                  <a:srgbClr val="FFD966"/>
                </a:solidFill>
                <a:latin typeface="Trebuchet MS"/>
                <a:cs typeface="Trebuchet MS"/>
              </a:rPr>
              <a:t>за</a:t>
            </a:r>
            <a:r>
              <a:rPr sz="23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300" b="1" spc="60" dirty="0">
                <a:solidFill>
                  <a:srgbClr val="FFD966"/>
                </a:solidFill>
                <a:latin typeface="Trebuchet MS"/>
                <a:cs typeface="Trebuchet MS"/>
              </a:rPr>
              <a:t>темою</a:t>
            </a:r>
            <a:r>
              <a:rPr sz="23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300" b="1" spc="20" dirty="0">
                <a:solidFill>
                  <a:srgbClr val="FFD966"/>
                </a:solidFill>
                <a:latin typeface="Trebuchet MS"/>
                <a:cs typeface="Trebuchet MS"/>
              </a:rPr>
              <a:t>дисертації</a:t>
            </a:r>
            <a:r>
              <a:rPr sz="23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300" b="1" spc="60" dirty="0">
                <a:solidFill>
                  <a:srgbClr val="FFD966"/>
                </a:solidFill>
                <a:latin typeface="Trebuchet MS"/>
                <a:cs typeface="Trebuchet MS"/>
              </a:rPr>
              <a:t>за</a:t>
            </a:r>
            <a:r>
              <a:rPr sz="23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300" b="1" spc="-10" dirty="0">
                <a:solidFill>
                  <a:srgbClr val="FFD966"/>
                </a:solidFill>
                <a:latin typeface="Trebuchet MS"/>
                <a:cs typeface="Trebuchet MS"/>
              </a:rPr>
              <a:t>звітній</a:t>
            </a:r>
            <a:r>
              <a:rPr sz="2300" b="1" spc="-140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300" b="1" spc="-15" dirty="0">
                <a:solidFill>
                  <a:srgbClr val="FFD966"/>
                </a:solidFill>
                <a:latin typeface="Trebuchet MS"/>
                <a:cs typeface="Trebuchet MS"/>
              </a:rPr>
              <a:t>період:</a:t>
            </a:r>
            <a:endParaRPr sz="2300" dirty="0">
              <a:latin typeface="Trebuchet MS"/>
              <a:cs typeface="Trebuchet MS"/>
            </a:endParaRPr>
          </a:p>
          <a:p>
            <a:pPr marL="2366010">
              <a:lnSpc>
                <a:spcPct val="100000"/>
              </a:lnSpc>
            </a:pPr>
            <a:r>
              <a:rPr sz="2300" b="1" i="1" spc="-250" dirty="0">
                <a:solidFill>
                  <a:srgbClr val="FFD966"/>
                </a:solidFill>
                <a:latin typeface="Trebuchet MS"/>
                <a:cs typeface="Trebuchet MS"/>
              </a:rPr>
              <a:t>1</a:t>
            </a:r>
            <a:r>
              <a:rPr sz="2300" b="1" i="1" spc="-155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300" b="1" i="1" spc="80" dirty="0">
                <a:solidFill>
                  <a:srgbClr val="FFD966"/>
                </a:solidFill>
                <a:latin typeface="Trebuchet MS"/>
                <a:cs typeface="Trebuchet MS"/>
              </a:rPr>
              <a:t>-</a:t>
            </a:r>
            <a:r>
              <a:rPr sz="2300" b="1" i="1" spc="-155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300" b="1" i="1" spc="55" dirty="0">
                <a:solidFill>
                  <a:srgbClr val="FFD966"/>
                </a:solidFill>
                <a:latin typeface="Trebuchet MS"/>
                <a:cs typeface="Trebuchet MS"/>
              </a:rPr>
              <a:t>тези</a:t>
            </a:r>
            <a:r>
              <a:rPr sz="2300" b="1" i="1" spc="-155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300" b="1" i="1" spc="55" dirty="0">
                <a:solidFill>
                  <a:srgbClr val="FFD966"/>
                </a:solidFill>
                <a:latin typeface="Trebuchet MS"/>
                <a:cs typeface="Trebuchet MS"/>
              </a:rPr>
              <a:t>до</a:t>
            </a:r>
            <a:r>
              <a:rPr sz="2300" b="1" i="1" spc="50" dirty="0">
                <a:solidFill>
                  <a:srgbClr val="FFD966"/>
                </a:solidFill>
                <a:latin typeface="Trebuchet MS"/>
                <a:cs typeface="Trebuchet MS"/>
              </a:rPr>
              <a:t>п</a:t>
            </a:r>
            <a:r>
              <a:rPr sz="2300" b="1" i="1" spc="-15" dirty="0">
                <a:solidFill>
                  <a:srgbClr val="FFD966"/>
                </a:solidFill>
                <a:latin typeface="Trebuchet MS"/>
                <a:cs typeface="Trebuchet MS"/>
              </a:rPr>
              <a:t>овіді</a:t>
            </a:r>
            <a:r>
              <a:rPr sz="2300" b="1" i="1" spc="-155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sz="2300" b="1" i="1" spc="10" dirty="0">
                <a:solidFill>
                  <a:srgbClr val="FFD966"/>
                </a:solidFill>
                <a:latin typeface="Trebuchet MS"/>
                <a:cs typeface="Trebuchet MS"/>
              </a:rPr>
              <a:t>(</a:t>
            </a:r>
            <a:r>
              <a:rPr sz="2300" b="1" i="1" spc="10" dirty="0" err="1">
                <a:solidFill>
                  <a:srgbClr val="FFD966"/>
                </a:solidFill>
                <a:latin typeface="Trebuchet MS"/>
                <a:cs typeface="Trebuchet MS"/>
              </a:rPr>
              <a:t>на</a:t>
            </a:r>
            <a:r>
              <a:rPr sz="2300" b="1" i="1" spc="-155" dirty="0">
                <a:solidFill>
                  <a:srgbClr val="FFD966"/>
                </a:solidFill>
                <a:latin typeface="Trebuchet MS"/>
                <a:cs typeface="Trebuchet MS"/>
              </a:rPr>
              <a:t> </a:t>
            </a:r>
            <a:r>
              <a:rPr lang="uk-UA" sz="2300" b="1" i="1" spc="-10" dirty="0">
                <a:solidFill>
                  <a:srgbClr val="FFD966"/>
                </a:solidFill>
                <a:latin typeface="Trebuchet MS"/>
                <a:cs typeface="Trebuchet MS"/>
              </a:rPr>
              <a:t>опублікуванні</a:t>
            </a:r>
            <a:r>
              <a:rPr sz="2300" b="1" i="1" spc="-10" dirty="0">
                <a:solidFill>
                  <a:srgbClr val="FFD966"/>
                </a:solidFill>
                <a:latin typeface="Trebuchet MS"/>
                <a:cs typeface="Trebuchet MS"/>
              </a:rPr>
              <a:t>)</a:t>
            </a:r>
            <a:endParaRPr sz="23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925" y="505857"/>
            <a:ext cx="7066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0" dirty="0">
                <a:solidFill>
                  <a:srgbClr val="063763"/>
                </a:solidFill>
              </a:rPr>
              <a:t>2.</a:t>
            </a:r>
            <a:r>
              <a:rPr sz="2400" spc="-150" dirty="0">
                <a:solidFill>
                  <a:srgbClr val="063763"/>
                </a:solidFill>
              </a:rPr>
              <a:t> </a:t>
            </a:r>
            <a:r>
              <a:rPr sz="2400" spc="130" dirty="0">
                <a:solidFill>
                  <a:srgbClr val="063763"/>
                </a:solidFill>
              </a:rPr>
              <a:t>Н</a:t>
            </a:r>
            <a:r>
              <a:rPr sz="2400" spc="35" dirty="0">
                <a:solidFill>
                  <a:srgbClr val="063763"/>
                </a:solidFill>
              </a:rPr>
              <a:t>авчальна</a:t>
            </a:r>
            <a:r>
              <a:rPr sz="2400" spc="-150" dirty="0">
                <a:solidFill>
                  <a:srgbClr val="063763"/>
                </a:solidFill>
              </a:rPr>
              <a:t> </a:t>
            </a:r>
            <a:r>
              <a:rPr sz="2400" spc="80" dirty="0">
                <a:solidFill>
                  <a:srgbClr val="063763"/>
                </a:solidFill>
              </a:rPr>
              <a:t>робо</a:t>
            </a:r>
            <a:r>
              <a:rPr sz="2400" spc="65" dirty="0">
                <a:solidFill>
                  <a:srgbClr val="063763"/>
                </a:solidFill>
              </a:rPr>
              <a:t>т</a:t>
            </a:r>
            <a:r>
              <a:rPr sz="2400" spc="95" dirty="0">
                <a:solidFill>
                  <a:srgbClr val="063763"/>
                </a:solidFill>
              </a:rPr>
              <a:t>а</a:t>
            </a:r>
            <a:endParaRPr sz="2400"/>
          </a:p>
          <a:p>
            <a:pPr marL="12700">
              <a:lnSpc>
                <a:spcPct val="100000"/>
              </a:lnSpc>
            </a:pPr>
            <a:r>
              <a:rPr sz="2400" spc="50" dirty="0">
                <a:solidFill>
                  <a:srgbClr val="063763"/>
                </a:solidFill>
              </a:rPr>
              <a:t>Складання</a:t>
            </a:r>
            <a:r>
              <a:rPr sz="2400" spc="-150" dirty="0">
                <a:solidFill>
                  <a:srgbClr val="063763"/>
                </a:solidFill>
              </a:rPr>
              <a:t> </a:t>
            </a:r>
            <a:r>
              <a:rPr sz="2400" dirty="0">
                <a:solidFill>
                  <a:srgbClr val="063763"/>
                </a:solidFill>
              </a:rPr>
              <a:t>іспитів</a:t>
            </a:r>
            <a:r>
              <a:rPr sz="2400" spc="-150" dirty="0">
                <a:solidFill>
                  <a:srgbClr val="063763"/>
                </a:solidFill>
              </a:rPr>
              <a:t> </a:t>
            </a:r>
            <a:r>
              <a:rPr sz="2400" spc="55" dirty="0">
                <a:solidFill>
                  <a:srgbClr val="063763"/>
                </a:solidFill>
              </a:rPr>
              <a:t>та</a:t>
            </a:r>
            <a:r>
              <a:rPr sz="2400" spc="-145" dirty="0">
                <a:solidFill>
                  <a:srgbClr val="063763"/>
                </a:solidFill>
              </a:rPr>
              <a:t> </a:t>
            </a:r>
            <a:r>
              <a:rPr sz="2400" dirty="0">
                <a:solidFill>
                  <a:srgbClr val="063763"/>
                </a:solidFill>
              </a:rPr>
              <a:t>заліків</a:t>
            </a:r>
            <a:r>
              <a:rPr sz="2400" spc="-150" dirty="0">
                <a:solidFill>
                  <a:srgbClr val="063763"/>
                </a:solidFill>
              </a:rPr>
              <a:t> </a:t>
            </a:r>
            <a:r>
              <a:rPr sz="2400" spc="-5" dirty="0">
                <a:solidFill>
                  <a:srgbClr val="063763"/>
                </a:solidFill>
              </a:rPr>
              <a:t>(за</a:t>
            </a:r>
            <a:r>
              <a:rPr sz="2400" spc="-150" dirty="0">
                <a:solidFill>
                  <a:srgbClr val="063763"/>
                </a:solidFill>
              </a:rPr>
              <a:t> </a:t>
            </a:r>
            <a:r>
              <a:rPr sz="2400" spc="-10" dirty="0">
                <a:solidFill>
                  <a:srgbClr val="063763"/>
                </a:solidFill>
              </a:rPr>
              <a:t>звітній</a:t>
            </a:r>
            <a:r>
              <a:rPr sz="2400" spc="-145" dirty="0">
                <a:solidFill>
                  <a:srgbClr val="063763"/>
                </a:solidFill>
              </a:rPr>
              <a:t> </a:t>
            </a:r>
            <a:r>
              <a:rPr sz="2400" spc="-35" dirty="0">
                <a:solidFill>
                  <a:srgbClr val="063763"/>
                </a:solidFill>
              </a:rPr>
              <a:t>період):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49100"/>
              </p:ext>
            </p:extLst>
          </p:nvPr>
        </p:nvGraphicFramePr>
        <p:xfrm>
          <a:off x="271737" y="1700922"/>
          <a:ext cx="8590279" cy="30272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2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01374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6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Назва</a:t>
                      </a:r>
                      <a:r>
                        <a:rPr sz="2600" b="1" spc="-50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дисципліни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0574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2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Термін</a:t>
                      </a:r>
                      <a:r>
                        <a:rPr sz="2000" b="1" spc="-100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за </a:t>
                      </a:r>
                      <a:r>
                        <a:rPr sz="2000" b="1" spc="-540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планом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3307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Дата </a:t>
                      </a:r>
                      <a:r>
                        <a:rPr sz="2000" b="1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с</a:t>
                      </a:r>
                      <a:r>
                        <a:rPr sz="2000" b="1" spc="20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к</a:t>
                      </a:r>
                      <a:r>
                        <a:rPr sz="20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ладання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000" b="1" spc="-5" dirty="0">
                          <a:solidFill>
                            <a:srgbClr val="FFD600"/>
                          </a:solidFill>
                          <a:latin typeface="Arial"/>
                          <a:cs typeface="Arial"/>
                        </a:rPr>
                        <a:t>Оцінка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7556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3974">
                <a:tc>
                  <a:txBody>
                    <a:bodyPr/>
                    <a:lstStyle/>
                    <a:p>
                      <a:pPr marL="85725" marR="52641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2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Методологія </a:t>
                      </a:r>
                      <a:r>
                        <a:rPr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та </a:t>
                      </a:r>
                      <a:r>
                        <a:rPr sz="1900" b="1" spc="-1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організація </a:t>
                      </a:r>
                      <a:r>
                        <a:rPr sz="1900" b="1" spc="-5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наукового </a:t>
                      </a:r>
                      <a:r>
                        <a:rPr sz="1900" b="1" spc="-1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дослідження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900" b="1" spc="-4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семестр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sz="1900" b="1" spc="-5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15" dirty="0" err="1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грудн</a:t>
                      </a:r>
                      <a:r>
                        <a:rPr lang="uk-UA"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я</a:t>
                      </a:r>
                      <a:endParaRPr sz="1900" dirty="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202</a:t>
                      </a:r>
                      <a:r>
                        <a:rPr lang="uk-UA"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900" b="1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В 85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949">
                <a:tc>
                  <a:txBody>
                    <a:bodyPr/>
                    <a:lstStyle/>
                    <a:p>
                      <a:pPr marL="85725" marR="3562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Іноземна </a:t>
                      </a:r>
                      <a:r>
                        <a:rPr sz="1900" b="1" spc="-2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мова </a:t>
                      </a:r>
                      <a:r>
                        <a:rPr sz="1900" b="1" spc="-1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академічного </a:t>
                      </a:r>
                      <a:r>
                        <a:rPr sz="1900" b="1" spc="-5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спрямування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900" b="1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900" b="1" spc="-4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семестр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sz="1900" b="1" spc="-50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uk-UA" sz="1900" b="1" spc="-1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листопада</a:t>
                      </a:r>
                      <a:endParaRPr sz="1900" dirty="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202</a:t>
                      </a:r>
                      <a:r>
                        <a:rPr lang="uk-UA"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lang="uk-UA" sz="1900" b="1" spc="-5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Д</a:t>
                      </a:r>
                      <a:r>
                        <a:rPr sz="1900" b="1" spc="-5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uk-UA" sz="1900" b="1" spc="-5" dirty="0">
                          <a:solidFill>
                            <a:srgbClr val="1B4587"/>
                          </a:solidFill>
                          <a:latin typeface="Arial"/>
                          <a:cs typeface="Arial"/>
                        </a:rPr>
                        <a:t>65</a:t>
                      </a:r>
                      <a:endParaRPr sz="1900" dirty="0">
                        <a:latin typeface="Arial"/>
                        <a:cs typeface="Arial"/>
                      </a:endParaRPr>
                    </a:p>
                  </a:txBody>
                  <a:tcPr marL="0" marR="0" marT="7620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574" y="317558"/>
            <a:ext cx="66046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40" dirty="0">
                <a:solidFill>
                  <a:srgbClr val="FFD600"/>
                </a:solidFill>
              </a:rPr>
              <a:t>Участь</a:t>
            </a:r>
            <a:r>
              <a:rPr sz="2700" spc="-24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у</a:t>
            </a:r>
            <a:r>
              <a:rPr sz="2700" spc="-235" dirty="0">
                <a:solidFill>
                  <a:srgbClr val="FFD600"/>
                </a:solidFill>
              </a:rPr>
              <a:t> </a:t>
            </a:r>
            <a:r>
              <a:rPr sz="2700" spc="30" dirty="0">
                <a:solidFill>
                  <a:srgbClr val="FFD600"/>
                </a:solidFill>
              </a:rPr>
              <a:t>заходах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неформальної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-15" dirty="0">
                <a:solidFill>
                  <a:srgbClr val="FFD600"/>
                </a:solidFill>
              </a:rPr>
              <a:t>освіти:</a:t>
            </a:r>
            <a:endParaRPr sz="27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12E0CB-7049-45DE-B155-2F9536CB0D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012" y="971550"/>
            <a:ext cx="5895975" cy="4081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574" y="317558"/>
            <a:ext cx="66046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40" dirty="0">
                <a:solidFill>
                  <a:srgbClr val="FFD600"/>
                </a:solidFill>
              </a:rPr>
              <a:t>Участь</a:t>
            </a:r>
            <a:r>
              <a:rPr sz="2700" spc="-24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у</a:t>
            </a:r>
            <a:r>
              <a:rPr sz="2700" spc="-235" dirty="0">
                <a:solidFill>
                  <a:srgbClr val="FFD600"/>
                </a:solidFill>
              </a:rPr>
              <a:t> </a:t>
            </a:r>
            <a:r>
              <a:rPr sz="2700" spc="30" dirty="0">
                <a:solidFill>
                  <a:srgbClr val="FFD600"/>
                </a:solidFill>
              </a:rPr>
              <a:t>заходах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неформальної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-15" dirty="0">
                <a:solidFill>
                  <a:srgbClr val="FFD600"/>
                </a:solidFill>
              </a:rPr>
              <a:t>освіти:</a:t>
            </a:r>
            <a:endParaRPr sz="270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EF6213-DF2F-4021-8656-3730F8324A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786" y="895350"/>
            <a:ext cx="5820428" cy="41124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10549" y="258250"/>
            <a:ext cx="8521065" cy="623570"/>
          </a:xfrm>
          <a:custGeom>
            <a:avLst/>
            <a:gdLst/>
            <a:ahLst/>
            <a:cxnLst/>
            <a:rect l="l" t="t" r="r" b="b"/>
            <a:pathLst>
              <a:path w="8521065" h="623569">
                <a:moveTo>
                  <a:pt x="8520599" y="623399"/>
                </a:moveTo>
                <a:lnTo>
                  <a:pt x="0" y="623399"/>
                </a:lnTo>
                <a:lnTo>
                  <a:pt x="0" y="0"/>
                </a:lnTo>
                <a:lnTo>
                  <a:pt x="8520599" y="0"/>
                </a:lnTo>
                <a:lnTo>
                  <a:pt x="8520599" y="6233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3574" y="317558"/>
            <a:ext cx="660463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40" dirty="0">
                <a:solidFill>
                  <a:srgbClr val="FFD600"/>
                </a:solidFill>
              </a:rPr>
              <a:t>Участь</a:t>
            </a:r>
            <a:r>
              <a:rPr sz="2700" spc="-24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у</a:t>
            </a:r>
            <a:r>
              <a:rPr sz="2700" spc="-235" dirty="0">
                <a:solidFill>
                  <a:srgbClr val="FFD600"/>
                </a:solidFill>
              </a:rPr>
              <a:t> </a:t>
            </a:r>
            <a:r>
              <a:rPr sz="2700" spc="30" dirty="0">
                <a:solidFill>
                  <a:srgbClr val="FFD600"/>
                </a:solidFill>
              </a:rPr>
              <a:t>заходах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20" dirty="0">
                <a:solidFill>
                  <a:srgbClr val="FFD600"/>
                </a:solidFill>
              </a:rPr>
              <a:t>неформальної</a:t>
            </a:r>
            <a:r>
              <a:rPr sz="2700" spc="-170" dirty="0">
                <a:solidFill>
                  <a:srgbClr val="FFD600"/>
                </a:solidFill>
              </a:rPr>
              <a:t> </a:t>
            </a:r>
            <a:r>
              <a:rPr sz="2700" spc="-15" dirty="0">
                <a:solidFill>
                  <a:srgbClr val="FFD600"/>
                </a:solidFill>
              </a:rPr>
              <a:t>освіти:</a:t>
            </a:r>
            <a:endParaRPr sz="27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6C4BD69-2741-4E9C-B444-5E78D0B070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76351"/>
            <a:ext cx="4267200" cy="323993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9FE71EA-046E-4106-87C0-24606E6F14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687" y="1352550"/>
            <a:ext cx="4118113" cy="31637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Дякую</a:t>
            </a:r>
            <a:r>
              <a:rPr spc="-340" dirty="0"/>
              <a:t> </a:t>
            </a:r>
            <a:r>
              <a:rPr spc="145" dirty="0"/>
              <a:t>за</a:t>
            </a:r>
            <a:r>
              <a:rPr spc="-490" dirty="0"/>
              <a:t> </a:t>
            </a:r>
            <a:r>
              <a:rPr spc="-20" dirty="0"/>
              <a:t>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197</Words>
  <Application>Microsoft Office PowerPoint</Application>
  <PresentationFormat>Экран (16:9)</PresentationFormat>
  <Paragraphs>39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Tahoma</vt:lpstr>
      <vt:lpstr>Trebuchet MS</vt:lpstr>
      <vt:lpstr>Office Theme</vt:lpstr>
      <vt:lpstr>Звіт за перше півріччя  2022/2023 н.р.</vt:lpstr>
      <vt:lpstr>1. Наукова робота:</vt:lpstr>
      <vt:lpstr>Презентация PowerPoint</vt:lpstr>
      <vt:lpstr>2. Навчальна робота Складання іспитів та заліків (за звітній період):</vt:lpstr>
      <vt:lpstr>Участь у заходах неформальної освіти:</vt:lpstr>
      <vt:lpstr>Участь у заходах неформальної освіти:</vt:lpstr>
      <vt:lpstr>Участь у заходах неформальної освіти:</vt:lpstr>
      <vt:lpstr>Дякую за увагу!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Звіт за перше півріччя 2021/2022 н.р.</dc:title>
  <cp:lastModifiedBy>Пользователь</cp:lastModifiedBy>
  <cp:revision>3</cp:revision>
  <dcterms:created xsi:type="dcterms:W3CDTF">2023-03-29T06:03:11Z</dcterms:created>
  <dcterms:modified xsi:type="dcterms:W3CDTF">2023-03-29T07:24:06Z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2023-03-29T00:00:00Z</vt:filetime>
  </property>
</Properties>
</file>