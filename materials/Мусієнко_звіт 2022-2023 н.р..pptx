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7" r:id="rId7"/>
    <p:sldId id="268" r:id="rId8"/>
    <p:sldId id="269" r:id="rId9"/>
    <p:sldId id="260" r:id="rId10"/>
    <p:sldId id="261" r:id="rId11"/>
    <p:sldId id="262" r:id="rId12"/>
    <p:sldId id="266" r:id="rId13"/>
    <p:sldId id="265" r:id="rId14"/>
    <p:sldId id="263" r:id="rId15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8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37A8-4C7D-4193-94DE-0A157772E474}" type="datetimeFigureOut">
              <a:rPr lang="ru-RU" smtClean="0"/>
              <a:t>10.11.2023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2D6C9-BA01-4F3B-BDBA-7723BD72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13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2D6C9-BA01-4F3B-BDBA-7723BD729DC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0549" y="258250"/>
            <a:ext cx="8521065" cy="623570"/>
          </a:xfrm>
          <a:custGeom>
            <a:avLst/>
            <a:gdLst/>
            <a:ahLst/>
            <a:cxnLst/>
            <a:rect l="l" t="t" r="r" b="b"/>
            <a:pathLst>
              <a:path w="8521065" h="623569">
                <a:moveTo>
                  <a:pt x="8520599" y="623399"/>
                </a:moveTo>
                <a:lnTo>
                  <a:pt x="0" y="623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6233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854524"/>
            <a:ext cx="9144000" cy="892810"/>
          </a:xfrm>
          <a:custGeom>
            <a:avLst/>
            <a:gdLst/>
            <a:ahLst/>
            <a:cxnLst/>
            <a:rect l="l" t="t" r="r" b="b"/>
            <a:pathLst>
              <a:path w="9144000" h="892810">
                <a:moveTo>
                  <a:pt x="9143999" y="892799"/>
                </a:moveTo>
                <a:lnTo>
                  <a:pt x="0" y="892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8927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8444" y="1582010"/>
            <a:ext cx="5467111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737" y="1700922"/>
            <a:ext cx="8605520" cy="303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#_Toc138406026"/><Relationship Id="rId13" Type="http://schemas.openxmlformats.org/officeDocument/2006/relationships/hyperlink" Target="#_Toc138406031"/><Relationship Id="rId18" Type="http://schemas.openxmlformats.org/officeDocument/2006/relationships/hyperlink" Target="#_Toc138406036"/><Relationship Id="rId3" Type="http://schemas.openxmlformats.org/officeDocument/2006/relationships/hyperlink" Target="#_Toc138406021"/><Relationship Id="rId21" Type="http://schemas.openxmlformats.org/officeDocument/2006/relationships/image" Target="../media/image2.png"/><Relationship Id="rId7" Type="http://schemas.openxmlformats.org/officeDocument/2006/relationships/hyperlink" Target="#_Toc138406025"/><Relationship Id="rId12" Type="http://schemas.openxmlformats.org/officeDocument/2006/relationships/hyperlink" Target="#_Toc138406030"/><Relationship Id="rId17" Type="http://schemas.openxmlformats.org/officeDocument/2006/relationships/hyperlink" Target="#_Toc138406035"/><Relationship Id="rId2" Type="http://schemas.openxmlformats.org/officeDocument/2006/relationships/hyperlink" Target="#_Toc138406020"/><Relationship Id="rId16" Type="http://schemas.openxmlformats.org/officeDocument/2006/relationships/hyperlink" Target="#_Toc138406034"/><Relationship Id="rId20" Type="http://schemas.openxmlformats.org/officeDocument/2006/relationships/hyperlink" Target="#_Toc138406038"/><Relationship Id="rId1" Type="http://schemas.openxmlformats.org/officeDocument/2006/relationships/slideLayout" Target="../slideLayouts/slideLayout2.xml"/><Relationship Id="rId6" Type="http://schemas.openxmlformats.org/officeDocument/2006/relationships/hyperlink" Target="#_Toc138406024"/><Relationship Id="rId11" Type="http://schemas.openxmlformats.org/officeDocument/2006/relationships/hyperlink" Target="#_Toc138406029"/><Relationship Id="rId5" Type="http://schemas.openxmlformats.org/officeDocument/2006/relationships/hyperlink" Target="#_Toc138406023"/><Relationship Id="rId15" Type="http://schemas.openxmlformats.org/officeDocument/2006/relationships/hyperlink" Target="#_Toc138406033"/><Relationship Id="rId10" Type="http://schemas.openxmlformats.org/officeDocument/2006/relationships/hyperlink" Target="#_Toc138406028"/><Relationship Id="rId19" Type="http://schemas.openxmlformats.org/officeDocument/2006/relationships/hyperlink" Target="#_Toc138406037"/><Relationship Id="rId4" Type="http://schemas.openxmlformats.org/officeDocument/2006/relationships/hyperlink" Target="#_Toc138406022"/><Relationship Id="rId9" Type="http://schemas.openxmlformats.org/officeDocument/2006/relationships/hyperlink" Target="#_Toc138406027"/><Relationship Id="rId14" Type="http://schemas.openxmlformats.org/officeDocument/2006/relationships/hyperlink" Target="#_Toc138406032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455001"/>
            <a:ext cx="3956685" cy="109260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3500" spc="35" dirty="0" err="1" smtClean="0">
                <a:solidFill>
                  <a:srgbClr val="FFD600"/>
                </a:solidFill>
              </a:rPr>
              <a:t>Звіт</a:t>
            </a:r>
            <a:r>
              <a:rPr lang="uk-UA" sz="3500" dirty="0"/>
              <a:t> </a:t>
            </a:r>
            <a:r>
              <a:rPr lang="ru-RU" sz="3500" spc="100" dirty="0" smtClean="0">
                <a:solidFill>
                  <a:srgbClr val="FFD600"/>
                </a:solidFill>
              </a:rPr>
              <a:t>з</a:t>
            </a:r>
            <a:r>
              <a:rPr sz="3500" spc="100" dirty="0" smtClean="0">
                <a:solidFill>
                  <a:srgbClr val="FFD600"/>
                </a:solidFill>
              </a:rPr>
              <a:t>а</a:t>
            </a:r>
            <a:r>
              <a:rPr lang="uk-UA" sz="3500" spc="-240" dirty="0">
                <a:solidFill>
                  <a:srgbClr val="FFD600"/>
                </a:solidFill>
              </a:rPr>
              <a:t/>
            </a:r>
            <a:br>
              <a:rPr lang="uk-UA" sz="3500" spc="-240" dirty="0">
                <a:solidFill>
                  <a:srgbClr val="FFD600"/>
                </a:solidFill>
              </a:rPr>
            </a:br>
            <a:r>
              <a:rPr sz="3500" spc="-15" dirty="0" smtClean="0">
                <a:solidFill>
                  <a:srgbClr val="FFD600"/>
                </a:solidFill>
              </a:rPr>
              <a:t> </a:t>
            </a:r>
            <a:r>
              <a:rPr sz="3500" spc="-1040" dirty="0" smtClean="0">
                <a:solidFill>
                  <a:srgbClr val="FFD600"/>
                </a:solidFill>
              </a:rPr>
              <a:t> </a:t>
            </a:r>
            <a:r>
              <a:rPr sz="3500" spc="60" dirty="0">
                <a:solidFill>
                  <a:srgbClr val="FFD600"/>
                </a:solidFill>
              </a:rPr>
              <a:t>202</a:t>
            </a:r>
            <a:r>
              <a:rPr lang="uk-UA" sz="3500" spc="60" dirty="0">
                <a:solidFill>
                  <a:srgbClr val="FFD600"/>
                </a:solidFill>
              </a:rPr>
              <a:t>2</a:t>
            </a:r>
            <a:r>
              <a:rPr sz="3500" spc="60" dirty="0">
                <a:solidFill>
                  <a:srgbClr val="FFD600"/>
                </a:solidFill>
              </a:rPr>
              <a:t>/202</a:t>
            </a:r>
            <a:r>
              <a:rPr lang="uk-UA" sz="3500" spc="60" dirty="0">
                <a:solidFill>
                  <a:srgbClr val="FFD600"/>
                </a:solidFill>
              </a:rPr>
              <a:t>3</a:t>
            </a:r>
            <a:r>
              <a:rPr sz="3500" spc="-220" dirty="0">
                <a:solidFill>
                  <a:srgbClr val="FFD600"/>
                </a:solidFill>
              </a:rPr>
              <a:t> </a:t>
            </a:r>
            <a:r>
              <a:rPr sz="3500" spc="-190" dirty="0">
                <a:solidFill>
                  <a:srgbClr val="FFD600"/>
                </a:solidFill>
              </a:rPr>
              <a:t>н.р.</a:t>
            </a:r>
            <a:endParaRPr sz="3500" dirty="0"/>
          </a:p>
        </p:txBody>
      </p:sp>
      <p:sp>
        <p:nvSpPr>
          <p:cNvPr id="4" name="object 4"/>
          <p:cNvSpPr txBox="1"/>
          <p:nvPr/>
        </p:nvSpPr>
        <p:spPr>
          <a:xfrm>
            <a:off x="269975" y="1806176"/>
            <a:ext cx="8230149" cy="29472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spc="-120" dirty="0" err="1">
                <a:solidFill>
                  <a:srgbClr val="FFFFFF"/>
                </a:solidFill>
                <a:latin typeface="Tahoma"/>
                <a:cs typeface="Tahoma"/>
              </a:rPr>
              <a:t>аспіранта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uk-UA" sz="2100" b="1" spc="-770" dirty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lang="uk-UA" sz="2100" b="1" spc="-114" dirty="0">
                <a:solidFill>
                  <a:srgbClr val="FFFFFF"/>
                </a:solidFill>
                <a:latin typeface="Tahoma"/>
                <a:cs typeface="Tahoma"/>
              </a:rPr>
              <a:t>  року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uk-UA" sz="2100" b="1" spc="-114" dirty="0">
                <a:solidFill>
                  <a:srgbClr val="FFFFFF"/>
                </a:solidFill>
                <a:latin typeface="Tahoma"/>
                <a:cs typeface="Tahoma"/>
              </a:rPr>
              <a:t>заочної </a:t>
            </a:r>
            <a:r>
              <a:rPr sz="2100" b="1" spc="-150" dirty="0" err="1">
                <a:solidFill>
                  <a:srgbClr val="FFFFFF"/>
                </a:solidFill>
                <a:latin typeface="Tahoma"/>
                <a:cs typeface="Tahoma"/>
              </a:rPr>
              <a:t>форми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навчання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uk-UA" sz="2400" b="1" spc="-150" dirty="0">
                <a:solidFill>
                  <a:srgbClr val="FFFFFF"/>
                </a:solidFill>
                <a:latin typeface="Tahoma"/>
                <a:cs typeface="Tahoma"/>
              </a:rPr>
              <a:t>Мусієнка Олександра Олександровича</a:t>
            </a:r>
            <a:endParaRPr sz="2400" dirty="0">
              <a:latin typeface="Tahoma"/>
              <a:cs typeface="Tahoma"/>
            </a:endParaRPr>
          </a:p>
          <a:p>
            <a:pPr marL="12700" marR="1076325">
              <a:lnSpc>
                <a:spcPct val="101400"/>
              </a:lnSpc>
              <a:spcBef>
                <a:spcPts val="10"/>
              </a:spcBef>
            </a:pPr>
            <a:r>
              <a:rPr sz="2100" b="1" spc="-114" dirty="0">
                <a:solidFill>
                  <a:srgbClr val="FFFFFF"/>
                </a:solidFill>
                <a:latin typeface="Tahoma"/>
                <a:cs typeface="Tahoma"/>
              </a:rPr>
              <a:t>Спеціальність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215" dirty="0">
                <a:solidFill>
                  <a:srgbClr val="FFFFFF"/>
                </a:solidFill>
                <a:latin typeface="Tahoma"/>
                <a:cs typeface="Tahoma"/>
              </a:rPr>
              <a:t>015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Професійна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10" dirty="0">
                <a:solidFill>
                  <a:srgbClr val="FFFFFF"/>
                </a:solidFill>
                <a:latin typeface="Tahoma"/>
                <a:cs typeface="Tahoma"/>
              </a:rPr>
              <a:t>освіта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45" dirty="0">
                <a:solidFill>
                  <a:srgbClr val="FFFFFF"/>
                </a:solidFill>
                <a:latin typeface="Tahoma"/>
                <a:cs typeface="Tahoma"/>
              </a:rPr>
              <a:t>(Цифрові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5" dirty="0">
                <a:solidFill>
                  <a:srgbClr val="FFFFFF"/>
                </a:solidFill>
                <a:latin typeface="Tahoma"/>
                <a:cs typeface="Tahoma"/>
              </a:rPr>
              <a:t>технології) </a:t>
            </a:r>
            <a:endParaRPr lang="uk-UA" sz="2100" b="1" spc="-125" dirty="0" smtClean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 marR="1076325">
              <a:lnSpc>
                <a:spcPct val="101400"/>
              </a:lnSpc>
              <a:spcBef>
                <a:spcPts val="10"/>
              </a:spcBef>
            </a:pPr>
            <a:r>
              <a:rPr sz="2100" b="1" spc="-600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45" dirty="0">
                <a:solidFill>
                  <a:srgbClr val="FFFFFF"/>
                </a:solidFill>
                <a:latin typeface="Tahoma"/>
                <a:cs typeface="Tahoma"/>
              </a:rPr>
              <a:t>Кафедра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5" dirty="0">
                <a:solidFill>
                  <a:srgbClr val="FFFFFF"/>
                </a:solidFill>
                <a:latin typeface="Tahoma"/>
                <a:cs typeface="Tahoma"/>
              </a:rPr>
              <a:t>інформатики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14" dirty="0">
                <a:solidFill>
                  <a:srgbClr val="FFFFFF"/>
                </a:solidFill>
                <a:latin typeface="Tahoma"/>
                <a:cs typeface="Tahoma"/>
              </a:rPr>
              <a:t>та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0" dirty="0">
                <a:solidFill>
                  <a:srgbClr val="FFFFFF"/>
                </a:solidFill>
                <a:latin typeface="Tahoma"/>
                <a:cs typeface="Tahoma"/>
              </a:rPr>
              <a:t>прикладної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математики</a:t>
            </a:r>
            <a:endParaRPr sz="2100" dirty="0">
              <a:latin typeface="Tahoma"/>
              <a:cs typeface="Tahoma"/>
            </a:endParaRPr>
          </a:p>
          <a:p>
            <a:pPr marL="12700" marR="5080">
              <a:lnSpc>
                <a:spcPct val="101499"/>
              </a:lnSpc>
            </a:pPr>
            <a:endParaRPr lang="uk-UA" sz="2100" b="1" spc="-140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 marR="5080">
              <a:lnSpc>
                <a:spcPct val="101499"/>
              </a:lnSpc>
            </a:pPr>
            <a:r>
              <a:rPr sz="2000" b="1" spc="-140" dirty="0" err="1">
                <a:solidFill>
                  <a:srgbClr val="FFFF00"/>
                </a:solidFill>
                <a:latin typeface="Tahoma"/>
                <a:cs typeface="Tahoma"/>
              </a:rPr>
              <a:t>Науковий</a:t>
            </a:r>
            <a:r>
              <a:rPr sz="2000" b="1" spc="-14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spc="-125" dirty="0">
                <a:solidFill>
                  <a:srgbClr val="FFFF00"/>
                </a:solidFill>
                <a:latin typeface="Tahoma"/>
                <a:cs typeface="Tahoma"/>
              </a:rPr>
              <a:t>керівник: </a:t>
            </a:r>
            <a:r>
              <a:rPr lang="uk-UA" sz="2000" b="1" spc="-155" dirty="0">
                <a:solidFill>
                  <a:srgbClr val="FFFF00"/>
                </a:solidFill>
                <a:latin typeface="Tahoma"/>
                <a:cs typeface="Tahoma"/>
              </a:rPr>
              <a:t>Осадча Катерина Петрівна, </a:t>
            </a:r>
            <a:r>
              <a:rPr sz="2000" b="1" spc="-120" dirty="0" err="1">
                <a:solidFill>
                  <a:srgbClr val="FFFF00"/>
                </a:solidFill>
                <a:latin typeface="Tahoma"/>
                <a:cs typeface="Tahoma"/>
              </a:rPr>
              <a:t>доктор</a:t>
            </a:r>
            <a:r>
              <a:rPr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spc="-135" dirty="0" err="1">
                <a:solidFill>
                  <a:srgbClr val="FFFF00"/>
                </a:solidFill>
                <a:latin typeface="Tahoma"/>
                <a:cs typeface="Tahoma"/>
              </a:rPr>
              <a:t>пед</a:t>
            </a:r>
            <a:r>
              <a:rPr lang="uk-UA" sz="2000" b="1" spc="-135" dirty="0" err="1">
                <a:solidFill>
                  <a:srgbClr val="FFFF00"/>
                </a:solidFill>
                <a:latin typeface="Tahoma"/>
                <a:cs typeface="Tahoma"/>
              </a:rPr>
              <a:t>агогічних</a:t>
            </a:r>
            <a:r>
              <a:rPr sz="2000" b="1" spc="-180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000" b="1" spc="-100" dirty="0">
                <a:solidFill>
                  <a:srgbClr val="FFFF00"/>
                </a:solidFill>
                <a:latin typeface="Tahoma"/>
                <a:cs typeface="Tahoma"/>
              </a:rPr>
              <a:t>наук,</a:t>
            </a:r>
            <a:r>
              <a:rPr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професор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кафедри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інформатики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і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кібернетики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Мелітопольського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державного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педагогічного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університету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імені</a:t>
            </a:r>
            <a:r>
              <a:rPr lang="ru-RU" sz="2000" b="1" spc="-185" dirty="0">
                <a:solidFill>
                  <a:srgbClr val="FFFF00"/>
                </a:solidFill>
                <a:latin typeface="Tahoma"/>
                <a:cs typeface="Tahoma"/>
              </a:rPr>
              <a:t> Богдана </a:t>
            </a:r>
            <a:r>
              <a:rPr lang="ru-RU" sz="2000" b="1" spc="-185" dirty="0" err="1">
                <a:solidFill>
                  <a:srgbClr val="FFFF00"/>
                </a:solidFill>
                <a:latin typeface="Tahoma"/>
                <a:cs typeface="Tahoma"/>
              </a:rPr>
              <a:t>Хмельницького</a:t>
            </a:r>
            <a:endParaRPr sz="2000" dirty="0">
              <a:solidFill>
                <a:srgbClr val="FFFF00"/>
              </a:solidFill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8925" y="417558"/>
            <a:ext cx="2491174" cy="2491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25" y="293634"/>
            <a:ext cx="31515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20" dirty="0"/>
              <a:t>1.</a:t>
            </a:r>
            <a:r>
              <a:rPr sz="2700" spc="-170" dirty="0"/>
              <a:t> </a:t>
            </a:r>
            <a:r>
              <a:rPr sz="2700" spc="140" dirty="0"/>
              <a:t>Н</a:t>
            </a:r>
            <a:r>
              <a:rPr sz="2700" spc="50" dirty="0"/>
              <a:t>а</a:t>
            </a:r>
            <a:r>
              <a:rPr sz="2700" spc="40" dirty="0"/>
              <a:t>у</a:t>
            </a:r>
            <a:r>
              <a:rPr sz="2700" spc="-35" dirty="0"/>
              <a:t>к</a:t>
            </a:r>
            <a:r>
              <a:rPr sz="2700" spc="85" dirty="0"/>
              <a:t>ова</a:t>
            </a:r>
            <a:r>
              <a:rPr sz="2700" spc="-170" dirty="0"/>
              <a:t> </a:t>
            </a:r>
            <a:r>
              <a:rPr sz="2700" spc="95" dirty="0"/>
              <a:t>робо</a:t>
            </a:r>
            <a:r>
              <a:rPr sz="2700" spc="75" dirty="0"/>
              <a:t>т</a:t>
            </a:r>
            <a:r>
              <a:rPr sz="2700" spc="-110" dirty="0"/>
              <a:t>а:</a:t>
            </a:r>
            <a:endParaRPr sz="2700"/>
          </a:p>
        </p:txBody>
      </p:sp>
      <p:sp>
        <p:nvSpPr>
          <p:cNvPr id="3" name="object 3"/>
          <p:cNvSpPr/>
          <p:nvPr/>
        </p:nvSpPr>
        <p:spPr>
          <a:xfrm>
            <a:off x="0" y="1871499"/>
            <a:ext cx="9144000" cy="2032000"/>
          </a:xfrm>
          <a:custGeom>
            <a:avLst/>
            <a:gdLst/>
            <a:ahLst/>
            <a:cxnLst/>
            <a:rect l="l" t="t" r="r" b="b"/>
            <a:pathLst>
              <a:path w="9144000" h="2032000">
                <a:moveTo>
                  <a:pt x="9143999" y="2031899"/>
                </a:moveTo>
                <a:lnTo>
                  <a:pt x="0" y="20318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0318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025" y="1116593"/>
            <a:ext cx="8686800" cy="269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865" indent="-4368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570230" algn="l"/>
                <a:tab pos="571500" algn="l"/>
              </a:tabLst>
            </a:pPr>
            <a:r>
              <a:rPr sz="2700" b="1" spc="70" dirty="0">
                <a:solidFill>
                  <a:srgbClr val="0B5394"/>
                </a:solidFill>
                <a:latin typeface="Trebuchet MS"/>
                <a:cs typeface="Trebuchet MS"/>
              </a:rPr>
              <a:t>Вибір</a:t>
            </a:r>
            <a:r>
              <a:rPr sz="2700" b="1" spc="-19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5" dirty="0">
                <a:solidFill>
                  <a:srgbClr val="0B5394"/>
                </a:solidFill>
                <a:latin typeface="Trebuchet MS"/>
                <a:cs typeface="Trebuchet MS"/>
              </a:rPr>
              <a:t>теми</a:t>
            </a:r>
            <a:r>
              <a:rPr sz="2700" b="1" spc="-19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25" dirty="0">
                <a:solidFill>
                  <a:srgbClr val="0B5394"/>
                </a:solidFill>
                <a:latin typeface="Trebuchet MS"/>
                <a:cs typeface="Trebuchet MS"/>
              </a:rPr>
              <a:t>дисертації</a:t>
            </a:r>
            <a:endParaRPr sz="27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 dirty="0">
              <a:latin typeface="Trebuchet MS"/>
              <a:cs typeface="Trebuchet MS"/>
            </a:endParaRPr>
          </a:p>
          <a:p>
            <a:pPr marR="5551805" algn="ctr">
              <a:lnSpc>
                <a:spcPct val="100000"/>
              </a:lnSpc>
              <a:spcBef>
                <a:spcPts val="5"/>
              </a:spcBef>
            </a:pPr>
            <a:r>
              <a:rPr sz="3000" b="1" spc="-395" dirty="0">
                <a:solidFill>
                  <a:srgbClr val="F1C131"/>
                </a:solidFill>
                <a:latin typeface="Trebuchet MS"/>
                <a:cs typeface="Trebuchet MS"/>
              </a:rPr>
              <a:t>Т</a:t>
            </a:r>
            <a:r>
              <a:rPr sz="3000" b="1" spc="70" dirty="0">
                <a:solidFill>
                  <a:srgbClr val="F1C131"/>
                </a:solidFill>
                <a:latin typeface="Trebuchet MS"/>
                <a:cs typeface="Trebuchet MS"/>
              </a:rPr>
              <a:t>ема</a:t>
            </a:r>
            <a:r>
              <a:rPr sz="3000" b="1" spc="-185" dirty="0">
                <a:solidFill>
                  <a:srgbClr val="F1C131"/>
                </a:solidFill>
                <a:latin typeface="Trebuchet MS"/>
                <a:cs typeface="Trebuchet MS"/>
              </a:rPr>
              <a:t> </a:t>
            </a:r>
            <a:r>
              <a:rPr sz="3000" b="1" spc="70" dirty="0">
                <a:solidFill>
                  <a:srgbClr val="F1C131"/>
                </a:solidFill>
                <a:latin typeface="Trebuchet MS"/>
                <a:cs typeface="Trebuchet MS"/>
              </a:rPr>
              <a:t>ди</a:t>
            </a:r>
            <a:r>
              <a:rPr sz="3000" b="1" spc="40" dirty="0">
                <a:solidFill>
                  <a:srgbClr val="F1C131"/>
                </a:solidFill>
                <a:latin typeface="Trebuchet MS"/>
                <a:cs typeface="Trebuchet MS"/>
              </a:rPr>
              <a:t>с</a:t>
            </a:r>
            <a:r>
              <a:rPr sz="3000" b="1" spc="80" dirty="0">
                <a:solidFill>
                  <a:srgbClr val="F1C131"/>
                </a:solidFill>
                <a:latin typeface="Trebuchet MS"/>
                <a:cs typeface="Trebuchet MS"/>
              </a:rPr>
              <a:t>ер</a:t>
            </a:r>
            <a:r>
              <a:rPr sz="3000" b="1" spc="60" dirty="0">
                <a:solidFill>
                  <a:srgbClr val="F1C131"/>
                </a:solidFill>
                <a:latin typeface="Trebuchet MS"/>
                <a:cs typeface="Trebuchet MS"/>
              </a:rPr>
              <a:t>т</a:t>
            </a:r>
            <a:r>
              <a:rPr sz="3000" b="1" spc="-100" dirty="0">
                <a:solidFill>
                  <a:srgbClr val="F1C131"/>
                </a:solidFill>
                <a:latin typeface="Trebuchet MS"/>
                <a:cs typeface="Trebuchet MS"/>
              </a:rPr>
              <a:t>ації:</a:t>
            </a:r>
            <a:endParaRPr sz="3000" dirty="0">
              <a:latin typeface="Trebuchet MS"/>
              <a:cs typeface="Trebuchet MS"/>
            </a:endParaRPr>
          </a:p>
          <a:p>
            <a:pPr marL="323850" marR="5080" algn="ctr">
              <a:lnSpc>
                <a:spcPct val="100000"/>
              </a:lnSpc>
            </a:pPr>
            <a:r>
              <a:rPr sz="3000" b="1" spc="15" dirty="0" smtClean="0">
                <a:solidFill>
                  <a:srgbClr val="F1C131"/>
                </a:solidFill>
                <a:latin typeface="Trebuchet MS"/>
                <a:cs typeface="Trebuchet MS"/>
              </a:rPr>
              <a:t>“</a:t>
            </a:r>
            <a:r>
              <a:rPr sz="3000" b="1" spc="15" dirty="0" err="1" smtClean="0">
                <a:solidFill>
                  <a:srgbClr val="F1C131"/>
                </a:solidFill>
                <a:latin typeface="Trebuchet MS"/>
                <a:cs typeface="Trebuchet MS"/>
              </a:rPr>
              <a:t>Формування</a:t>
            </a:r>
            <a:r>
              <a:rPr sz="3000" b="1" spc="-190" dirty="0" smtClean="0">
                <a:solidFill>
                  <a:srgbClr val="F1C131"/>
                </a:solidFill>
                <a:latin typeface="Trebuchet MS"/>
                <a:cs typeface="Trebuchet MS"/>
              </a:rPr>
              <a:t> </a:t>
            </a:r>
            <a:r>
              <a:rPr lang="uk-UA" sz="3000" b="1" spc="45" dirty="0" smtClean="0">
                <a:solidFill>
                  <a:srgbClr val="F1C131"/>
                </a:solidFill>
                <a:latin typeface="Trebuchet MS"/>
                <a:cs typeface="Trebuchet MS"/>
              </a:rPr>
              <a:t>інформаційно-комунікаційної </a:t>
            </a:r>
            <a:r>
              <a:rPr lang="uk-UA" sz="3000" b="1" spc="45" dirty="0">
                <a:solidFill>
                  <a:srgbClr val="F1C131"/>
                </a:solidFill>
                <a:latin typeface="Trebuchet MS"/>
                <a:cs typeface="Trebuchet MS"/>
              </a:rPr>
              <a:t>компетентності в процесі фахової підготовки майбутніх дизайнерів</a:t>
            </a:r>
            <a:r>
              <a:rPr sz="3000" b="1" spc="-20" dirty="0">
                <a:solidFill>
                  <a:srgbClr val="F1C131"/>
                </a:solidFill>
                <a:latin typeface="Trebuchet MS"/>
                <a:cs typeface="Trebuchet MS"/>
              </a:rPr>
              <a:t>”</a:t>
            </a:r>
            <a:endParaRPr sz="30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133351"/>
            <a:ext cx="2141158" cy="2007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0"/>
            <a:ext cx="9143999" cy="4708981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258445" algn="just">
              <a:lnSpc>
                <a:spcPct val="100000"/>
              </a:lnSpc>
              <a:spcBef>
                <a:spcPts val="1720"/>
              </a:spcBef>
              <a:tabLst>
                <a:tab pos="694690" algn="l"/>
                <a:tab pos="695325" algn="l"/>
              </a:tabLst>
            </a:pPr>
            <a:r>
              <a:rPr lang="uk-UA" sz="1100" b="1" spc="40" dirty="0" smtClean="0">
                <a:solidFill>
                  <a:srgbClr val="0B5394"/>
                </a:solidFill>
                <a:latin typeface="Trebuchet MS"/>
                <a:cs typeface="Trebuchet MS"/>
              </a:rPr>
              <a:t>ЕКСПЕРЕМЕНТАЛЬНА РОБОТА :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sz="1100" b="1" spc="40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Обґрунтування</a:t>
            </a:r>
            <a:r>
              <a:rPr sz="1100" b="1" spc="-195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3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актуальності</a:t>
            </a:r>
            <a:r>
              <a:rPr lang="uk-UA" sz="1100" b="1" spc="35" dirty="0" smtClean="0">
                <a:solidFill>
                  <a:srgbClr val="0B5394"/>
                </a:solidFill>
                <a:latin typeface="Trebuchet MS"/>
                <a:cs typeface="Trebuchet MS"/>
              </a:rPr>
              <a:t> теми.</a:t>
            </a:r>
            <a:r>
              <a:rPr lang="uk-UA" sz="1100" b="1" dirty="0">
                <a:latin typeface="Trebuchet MS"/>
                <a:cs typeface="Trebuchet MS"/>
              </a:rPr>
              <a:t> </a:t>
            </a:r>
            <a:r>
              <a:rPr sz="1100" b="1" spc="4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Визначення</a:t>
            </a:r>
            <a:r>
              <a:rPr sz="1100" b="1" spc="-165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30" dirty="0">
                <a:solidFill>
                  <a:srgbClr val="0B5394"/>
                </a:solidFill>
                <a:latin typeface="Trebuchet MS"/>
                <a:cs typeface="Trebuchet MS"/>
              </a:rPr>
              <a:t>теоретичної</a:t>
            </a:r>
            <a:r>
              <a:rPr sz="1100" b="1" spc="-16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60" dirty="0">
                <a:solidFill>
                  <a:srgbClr val="0B5394"/>
                </a:solidFill>
                <a:latin typeface="Trebuchet MS"/>
                <a:cs typeface="Trebuchet MS"/>
              </a:rPr>
              <a:t>та</a:t>
            </a:r>
            <a:r>
              <a:rPr sz="1100" b="1" spc="-16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20" dirty="0">
                <a:solidFill>
                  <a:srgbClr val="0B5394"/>
                </a:solidFill>
                <a:latin typeface="Trebuchet MS"/>
                <a:cs typeface="Trebuchet MS"/>
              </a:rPr>
              <a:t>методичної</a:t>
            </a:r>
            <a:r>
              <a:rPr sz="1100" b="1" spc="-16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5" dirty="0">
                <a:solidFill>
                  <a:srgbClr val="0B5394"/>
                </a:solidFill>
                <a:latin typeface="Trebuchet MS"/>
                <a:cs typeface="Trebuchet MS"/>
              </a:rPr>
              <a:t>основ, </a:t>
            </a:r>
            <a:r>
              <a:rPr sz="1100" b="1" spc="-80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0B5394"/>
                </a:solidFill>
                <a:latin typeface="Trebuchet MS"/>
                <a:cs typeface="Trebuchet MS"/>
              </a:rPr>
              <a:t>об'єкта,</a:t>
            </a:r>
            <a:r>
              <a:rPr sz="1100" b="1" spc="-17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0B5394"/>
                </a:solidFill>
                <a:latin typeface="Trebuchet MS"/>
                <a:cs typeface="Trebuchet MS"/>
              </a:rPr>
              <a:t>предмета</a:t>
            </a:r>
            <a:r>
              <a:rPr sz="11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5" dirty="0">
                <a:solidFill>
                  <a:srgbClr val="0B5394"/>
                </a:solidFill>
                <a:latin typeface="Trebuchet MS"/>
                <a:cs typeface="Trebuchet MS"/>
              </a:rPr>
              <a:t>дослідження,</a:t>
            </a:r>
            <a:r>
              <a:rPr sz="11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3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мети</a:t>
            </a:r>
            <a:r>
              <a:rPr lang="uk-UA" sz="1100" b="1" spc="35" dirty="0" smtClean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r>
              <a:rPr lang="uk-UA" sz="1100" b="1" dirty="0">
                <a:latin typeface="Trebuchet MS"/>
                <a:cs typeface="Trebuchet MS"/>
              </a:rPr>
              <a:t> </a:t>
            </a:r>
            <a:r>
              <a:rPr sz="1100" b="1" spc="60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Складання</a:t>
            </a:r>
            <a:r>
              <a:rPr sz="1100" b="1" spc="-170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35" dirty="0">
                <a:solidFill>
                  <a:srgbClr val="0B5394"/>
                </a:solidFill>
                <a:latin typeface="Trebuchet MS"/>
                <a:cs typeface="Trebuchet MS"/>
              </a:rPr>
              <a:t>пла</a:t>
            </a:r>
            <a:r>
              <a:rPr sz="1100" b="1" spc="10" dirty="0">
                <a:solidFill>
                  <a:srgbClr val="0B5394"/>
                </a:solidFill>
                <a:latin typeface="Trebuchet MS"/>
                <a:cs typeface="Trebuchet MS"/>
              </a:rPr>
              <a:t>н</a:t>
            </a:r>
            <a:r>
              <a:rPr sz="1100" b="1" spc="20" dirty="0">
                <a:solidFill>
                  <a:srgbClr val="0B5394"/>
                </a:solidFill>
                <a:latin typeface="Trebuchet MS"/>
                <a:cs typeface="Trebuchet MS"/>
              </a:rPr>
              <a:t>у</a:t>
            </a:r>
            <a:r>
              <a:rPr sz="1100" b="1" spc="-23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60" dirty="0" err="1">
                <a:solidFill>
                  <a:srgbClr val="0B5394"/>
                </a:solidFill>
                <a:latin typeface="Trebuchet MS"/>
                <a:cs typeface="Trebuchet MS"/>
              </a:rPr>
              <a:t>ди</a:t>
            </a:r>
            <a:r>
              <a:rPr sz="1100" b="1" spc="35" dirty="0" err="1">
                <a:solidFill>
                  <a:srgbClr val="0B5394"/>
                </a:solidFill>
                <a:latin typeface="Trebuchet MS"/>
                <a:cs typeface="Trebuchet MS"/>
              </a:rPr>
              <a:t>с</a:t>
            </a:r>
            <a:r>
              <a:rPr sz="1100" b="1" spc="75" dirty="0" err="1">
                <a:solidFill>
                  <a:srgbClr val="0B5394"/>
                </a:solidFill>
                <a:latin typeface="Trebuchet MS"/>
                <a:cs typeface="Trebuchet MS"/>
              </a:rPr>
              <a:t>ер</a:t>
            </a:r>
            <a:r>
              <a:rPr sz="1100" b="1" spc="55" dirty="0" err="1">
                <a:solidFill>
                  <a:srgbClr val="0B5394"/>
                </a:solidFill>
                <a:latin typeface="Trebuchet MS"/>
                <a:cs typeface="Trebuchet MS"/>
              </a:rPr>
              <a:t>т</a:t>
            </a:r>
            <a:r>
              <a:rPr sz="1100" b="1" spc="5" dirty="0" err="1">
                <a:solidFill>
                  <a:srgbClr val="0B5394"/>
                </a:solidFill>
                <a:latin typeface="Trebuchet MS"/>
                <a:cs typeface="Trebuchet MS"/>
              </a:rPr>
              <a:t>аційної</a:t>
            </a:r>
            <a:r>
              <a:rPr sz="11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80" dirty="0" err="1">
                <a:solidFill>
                  <a:srgbClr val="0B5394"/>
                </a:solidFill>
                <a:latin typeface="Trebuchet MS"/>
                <a:cs typeface="Trebuchet MS"/>
              </a:rPr>
              <a:t>роботи</a:t>
            </a:r>
            <a:r>
              <a:rPr lang="uk-UA" sz="1100" b="1" spc="80" dirty="0" smtClean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r>
              <a:rPr lang="uk-UA" sz="1100" b="1" dirty="0">
                <a:latin typeface="Trebuchet MS"/>
                <a:cs typeface="Trebuchet MS"/>
              </a:rPr>
              <a:t> </a:t>
            </a:r>
            <a:r>
              <a:rPr sz="1100" b="1" spc="12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О</a:t>
            </a:r>
            <a:r>
              <a:rPr sz="1100" b="1" spc="6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працювання</a:t>
            </a:r>
            <a:r>
              <a:rPr sz="1100" b="1" spc="-170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lang="uk-UA" sz="1100" b="1" spc="-90" dirty="0" smtClean="0">
                <a:solidFill>
                  <a:srgbClr val="0B5394"/>
                </a:solidFill>
                <a:latin typeface="Trebuchet MS"/>
                <a:cs typeface="Trebuchet MS"/>
              </a:rPr>
              <a:t>120</a:t>
            </a:r>
            <a:r>
              <a:rPr sz="1100" b="1" spc="-170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lang="uk-UA" sz="1100" b="1" spc="-170" dirty="0" smtClean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4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першоджерел</a:t>
            </a:r>
            <a:r>
              <a:rPr sz="1100" b="1" spc="45" dirty="0">
                <a:solidFill>
                  <a:srgbClr val="0B5394"/>
                </a:solidFill>
                <a:latin typeface="Trebuchet MS"/>
                <a:cs typeface="Trebuchet MS"/>
              </a:rPr>
              <a:t>,</a:t>
            </a:r>
            <a:r>
              <a:rPr sz="11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1100" b="1" spc="-90" dirty="0" err="1">
                <a:solidFill>
                  <a:srgbClr val="0B5394"/>
                </a:solidFill>
                <a:latin typeface="Trebuchet MS"/>
                <a:cs typeface="Trebuchet MS"/>
              </a:rPr>
              <a:t>їх</a:t>
            </a:r>
            <a:r>
              <a:rPr sz="1100" b="1" spc="-90" dirty="0">
                <a:solidFill>
                  <a:srgbClr val="0B5394"/>
                </a:solidFill>
                <a:latin typeface="Trebuchet MS"/>
                <a:cs typeface="Trebuchet MS"/>
              </a:rPr>
              <a:t>  </a:t>
            </a:r>
            <a:r>
              <a:rPr sz="1100" b="1" spc="25" dirty="0">
                <a:solidFill>
                  <a:srgbClr val="0B5394"/>
                </a:solidFill>
                <a:latin typeface="Trebuchet MS"/>
                <a:cs typeface="Trebuchet MS"/>
              </a:rPr>
              <a:t>у</a:t>
            </a:r>
            <a:r>
              <a:rPr lang="uk-UA" sz="1100" b="1" spc="25" dirty="0" err="1">
                <a:solidFill>
                  <a:srgbClr val="0B5394"/>
                </a:solidFill>
                <a:latin typeface="Trebuchet MS"/>
                <a:cs typeface="Trebuchet MS"/>
              </a:rPr>
              <a:t>бґ</a:t>
            </a:r>
            <a:r>
              <a:rPr sz="1100" b="1" spc="25" dirty="0" err="1">
                <a:solidFill>
                  <a:srgbClr val="0B5394"/>
                </a:solidFill>
                <a:latin typeface="Trebuchet MS"/>
                <a:cs typeface="Trebuchet MS"/>
              </a:rPr>
              <a:t>рунтування</a:t>
            </a: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Зібрання фактичного матеріалу для створення майбутньої «Моделі фахової підготовки дизайнерів».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Аналіз фахових наукових робіт (дисертацій та монографій).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Аналіз та дослідження основної термінологічної бази та розкриття понять.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Підняття власної кваліфікації (проходження </a:t>
            </a:r>
            <a:r>
              <a:rPr lang="uk-UA" sz="1100" b="1" spc="2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вебінарів</a:t>
            </a: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 «</a:t>
            </a:r>
            <a:r>
              <a:rPr lang="en-US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Coursera</a:t>
            </a: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», «</a:t>
            </a:r>
            <a:r>
              <a:rPr lang="en-US" sz="1100" b="1" spc="25" dirty="0" err="1" smtClean="0">
                <a:solidFill>
                  <a:srgbClr val="0B5394"/>
                </a:solidFill>
                <a:latin typeface="Trebuchet MS"/>
                <a:cs typeface="Trebuchet MS"/>
              </a:rPr>
              <a:t>Prometeus</a:t>
            </a: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»).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Аналіз та створення онлайн-курсів для підготовки майбутніх дизайнерів на платформі </a:t>
            </a:r>
            <a:r>
              <a:rPr lang="en-US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Moodle.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Реєстрація в електронних бібліотеках України та міжнародного рівня.</a:t>
            </a:r>
          </a:p>
          <a:p>
            <a:pPr marL="601345" indent="-342900" algn="just">
              <a:lnSpc>
                <a:spcPct val="100000"/>
              </a:lnSpc>
              <a:spcBef>
                <a:spcPts val="1720"/>
              </a:spcBef>
              <a:buAutoNum type="arabicPeriod"/>
              <a:tabLst>
                <a:tab pos="694690" algn="l"/>
                <a:tab pos="695325" algn="l"/>
              </a:tabLst>
            </a:pPr>
            <a:r>
              <a:rPr lang="uk-UA" sz="1100" b="1" spc="25" dirty="0" smtClean="0">
                <a:solidFill>
                  <a:srgbClr val="0B5394"/>
                </a:solidFill>
                <a:latin typeface="Trebuchet MS"/>
                <a:cs typeface="Trebuchet MS"/>
              </a:rPr>
              <a:t>Написання статей, тез та отримання сертифікатів.</a:t>
            </a: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2000" b="1" dirty="0" err="1" smtClean="0">
                <a:solidFill>
                  <a:srgbClr val="FFD966"/>
                </a:solidFill>
                <a:latin typeface="Trebuchet MS"/>
                <a:cs typeface="Trebuchet MS"/>
              </a:rPr>
              <a:t>Кількість</a:t>
            </a:r>
            <a:r>
              <a:rPr sz="2000" b="1" spc="-140" dirty="0" smtClean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5" dirty="0">
                <a:solidFill>
                  <a:srgbClr val="FFD966"/>
                </a:solidFill>
                <a:latin typeface="Trebuchet MS"/>
                <a:cs typeface="Trebuchet MS"/>
              </a:rPr>
              <a:t>публікацій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60" dirty="0">
                <a:solidFill>
                  <a:srgbClr val="FFD966"/>
                </a:solidFill>
                <a:latin typeface="Trebuchet MS"/>
                <a:cs typeface="Trebuchet MS"/>
              </a:rPr>
              <a:t>за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60" dirty="0">
                <a:solidFill>
                  <a:srgbClr val="FFD966"/>
                </a:solidFill>
                <a:latin typeface="Trebuchet MS"/>
                <a:cs typeface="Trebuchet MS"/>
              </a:rPr>
              <a:t>темою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20" dirty="0">
                <a:solidFill>
                  <a:srgbClr val="FFD966"/>
                </a:solidFill>
                <a:latin typeface="Trebuchet MS"/>
                <a:cs typeface="Trebuchet MS"/>
              </a:rPr>
              <a:t>дисертації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60" dirty="0">
                <a:solidFill>
                  <a:srgbClr val="FFD966"/>
                </a:solidFill>
                <a:latin typeface="Trebuchet MS"/>
                <a:cs typeface="Trebuchet MS"/>
              </a:rPr>
              <a:t>за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D966"/>
                </a:solidFill>
                <a:latin typeface="Trebuchet MS"/>
                <a:cs typeface="Trebuchet MS"/>
              </a:rPr>
              <a:t>звітній</a:t>
            </a:r>
            <a:r>
              <a:rPr sz="20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spc="-15" dirty="0" err="1">
                <a:solidFill>
                  <a:srgbClr val="FFD966"/>
                </a:solidFill>
                <a:latin typeface="Trebuchet MS"/>
                <a:cs typeface="Trebuchet MS"/>
              </a:rPr>
              <a:t>період</a:t>
            </a:r>
            <a:r>
              <a:rPr sz="2000" b="1" spc="-15" dirty="0" smtClean="0">
                <a:solidFill>
                  <a:srgbClr val="FFD966"/>
                </a:solidFill>
                <a:latin typeface="Trebuchet MS"/>
                <a:cs typeface="Trebuchet MS"/>
              </a:rPr>
              <a:t>:</a:t>
            </a:r>
            <a:r>
              <a:rPr lang="uk-UA" sz="2000" b="1" spc="-15" dirty="0" smtClean="0">
                <a:solidFill>
                  <a:srgbClr val="FFD966"/>
                </a:solidFill>
                <a:latin typeface="Trebuchet MS"/>
                <a:cs typeface="Trebuchet MS"/>
              </a:rPr>
              <a:t> 3</a:t>
            </a:r>
            <a:endParaRPr lang="uk-UA"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2000" b="1" i="1" spc="-250" dirty="0" smtClean="0">
                <a:solidFill>
                  <a:srgbClr val="FFD966"/>
                </a:solidFill>
                <a:latin typeface="Trebuchet MS"/>
                <a:cs typeface="Trebuchet MS"/>
              </a:rPr>
              <a:t>1</a:t>
            </a:r>
            <a:r>
              <a:rPr sz="2000" b="1" i="1" spc="-155" dirty="0" smtClean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i="1" spc="80" dirty="0">
                <a:solidFill>
                  <a:srgbClr val="FFD966"/>
                </a:solidFill>
                <a:latin typeface="Trebuchet MS"/>
                <a:cs typeface="Trebuchet MS"/>
              </a:rPr>
              <a:t>-</a:t>
            </a:r>
            <a:r>
              <a:rPr sz="20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i="1" spc="55" dirty="0" err="1">
                <a:solidFill>
                  <a:srgbClr val="FFD966"/>
                </a:solidFill>
                <a:latin typeface="Trebuchet MS"/>
                <a:cs typeface="Trebuchet MS"/>
              </a:rPr>
              <a:t>тези</a:t>
            </a:r>
            <a:r>
              <a:rPr sz="20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000" b="1" i="1" spc="55" dirty="0" err="1" smtClean="0">
                <a:solidFill>
                  <a:srgbClr val="FFD966"/>
                </a:solidFill>
                <a:latin typeface="Trebuchet MS"/>
                <a:cs typeface="Trebuchet MS"/>
              </a:rPr>
              <a:t>до</a:t>
            </a:r>
            <a:r>
              <a:rPr sz="2000" b="1" i="1" spc="50" dirty="0" err="1" smtClean="0">
                <a:solidFill>
                  <a:srgbClr val="FFD966"/>
                </a:solidFill>
                <a:latin typeface="Trebuchet MS"/>
                <a:cs typeface="Trebuchet MS"/>
              </a:rPr>
              <a:t>п</a:t>
            </a:r>
            <a:r>
              <a:rPr sz="2000" b="1" i="1" spc="-15" dirty="0" err="1" smtClean="0">
                <a:solidFill>
                  <a:srgbClr val="FFD966"/>
                </a:solidFill>
                <a:latin typeface="Trebuchet MS"/>
                <a:cs typeface="Trebuchet MS"/>
              </a:rPr>
              <a:t>овіді</a:t>
            </a:r>
            <a:r>
              <a:rPr lang="uk-UA" sz="2000" b="1" i="1" spc="-15" dirty="0" smtClean="0">
                <a:solidFill>
                  <a:srgbClr val="FFD966"/>
                </a:solidFill>
                <a:latin typeface="Trebuchet MS"/>
                <a:cs typeface="Trebuchet MS"/>
              </a:rPr>
              <a:t>, 2 – статті у наукових виданнях</a:t>
            </a:r>
            <a:r>
              <a:rPr sz="2000" b="1" i="1" spc="-155" dirty="0" smtClean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3952" y="2190750"/>
            <a:ext cx="1668516" cy="1578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925" y="505857"/>
            <a:ext cx="706628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solidFill>
                  <a:srgbClr val="063763"/>
                </a:solidFill>
              </a:rPr>
              <a:t>2.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130" dirty="0">
                <a:solidFill>
                  <a:srgbClr val="063763"/>
                </a:solidFill>
              </a:rPr>
              <a:t>Н</a:t>
            </a:r>
            <a:r>
              <a:rPr sz="2400" spc="35" dirty="0">
                <a:solidFill>
                  <a:srgbClr val="063763"/>
                </a:solidFill>
              </a:rPr>
              <a:t>авчальна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80" dirty="0">
                <a:solidFill>
                  <a:srgbClr val="063763"/>
                </a:solidFill>
              </a:rPr>
              <a:t>робо</a:t>
            </a:r>
            <a:r>
              <a:rPr sz="2400" spc="65" dirty="0">
                <a:solidFill>
                  <a:srgbClr val="063763"/>
                </a:solidFill>
              </a:rPr>
              <a:t>т</a:t>
            </a:r>
            <a:r>
              <a:rPr sz="2400" spc="95" dirty="0">
                <a:solidFill>
                  <a:srgbClr val="063763"/>
                </a:solidFill>
              </a:rPr>
              <a:t>а</a:t>
            </a:r>
            <a:endParaRPr sz="2400" dirty="0"/>
          </a:p>
          <a:p>
            <a:pPr marL="12700">
              <a:lnSpc>
                <a:spcPct val="100000"/>
              </a:lnSpc>
            </a:pPr>
            <a:r>
              <a:rPr sz="2400" spc="50" dirty="0">
                <a:solidFill>
                  <a:srgbClr val="063763"/>
                </a:solidFill>
              </a:rPr>
              <a:t>Складання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dirty="0">
                <a:solidFill>
                  <a:srgbClr val="063763"/>
                </a:solidFill>
              </a:rPr>
              <a:t>іспитів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55" dirty="0">
                <a:solidFill>
                  <a:srgbClr val="063763"/>
                </a:solidFill>
              </a:rPr>
              <a:t>та</a:t>
            </a:r>
            <a:r>
              <a:rPr sz="2400" spc="-145" dirty="0">
                <a:solidFill>
                  <a:srgbClr val="063763"/>
                </a:solidFill>
              </a:rPr>
              <a:t> </a:t>
            </a:r>
            <a:r>
              <a:rPr sz="2400" dirty="0" err="1">
                <a:solidFill>
                  <a:srgbClr val="063763"/>
                </a:solidFill>
              </a:rPr>
              <a:t>заліків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lang="uk-UA" sz="2400" spc="-150" dirty="0" smtClean="0">
                <a:solidFill>
                  <a:srgbClr val="063763"/>
                </a:solidFill>
              </a:rPr>
              <a:t>1 семестр </a:t>
            </a:r>
            <a:r>
              <a:rPr sz="2400" spc="-5" dirty="0" smtClean="0">
                <a:solidFill>
                  <a:srgbClr val="063763"/>
                </a:solidFill>
              </a:rPr>
              <a:t>(</a:t>
            </a:r>
            <a:r>
              <a:rPr sz="2400" spc="-5" dirty="0" err="1" smtClean="0">
                <a:solidFill>
                  <a:srgbClr val="063763"/>
                </a:solidFill>
              </a:rPr>
              <a:t>за</a:t>
            </a:r>
            <a:r>
              <a:rPr sz="2400" spc="-150" dirty="0" smtClean="0">
                <a:solidFill>
                  <a:srgbClr val="063763"/>
                </a:solidFill>
              </a:rPr>
              <a:t> </a:t>
            </a:r>
            <a:r>
              <a:rPr sz="2400" spc="-10" dirty="0">
                <a:solidFill>
                  <a:srgbClr val="063763"/>
                </a:solidFill>
              </a:rPr>
              <a:t>звітній</a:t>
            </a:r>
            <a:r>
              <a:rPr sz="2400" spc="-145" dirty="0">
                <a:solidFill>
                  <a:srgbClr val="063763"/>
                </a:solidFill>
              </a:rPr>
              <a:t> </a:t>
            </a:r>
            <a:r>
              <a:rPr sz="2400" spc="-35" dirty="0">
                <a:solidFill>
                  <a:srgbClr val="063763"/>
                </a:solidFill>
              </a:rPr>
              <a:t>період):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49100"/>
              </p:ext>
            </p:extLst>
          </p:nvPr>
        </p:nvGraphicFramePr>
        <p:xfrm>
          <a:off x="271737" y="1700922"/>
          <a:ext cx="8590279" cy="3027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23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103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3013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6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Назва</a:t>
                      </a:r>
                      <a:r>
                        <a:rPr sz="2600" b="1" spc="-5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дисципліни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57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2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Термін</a:t>
                      </a:r>
                      <a:r>
                        <a:rPr sz="2000" b="1" spc="-10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за </a:t>
                      </a:r>
                      <a:r>
                        <a:rPr sz="2000" b="1" spc="-54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планом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3307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Дата </a:t>
                      </a:r>
                      <a:r>
                        <a:rPr sz="2000" b="1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2000" b="1" spc="2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к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ладання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Оцінка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3974">
                <a:tc>
                  <a:txBody>
                    <a:bodyPr/>
                    <a:lstStyle/>
                    <a:p>
                      <a:pPr marL="85725" marR="5264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Методологія </a:t>
                      </a: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та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організація </a:t>
                      </a:r>
                      <a:r>
                        <a:rPr sz="1900" b="1" spc="-5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наукового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дослідження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900" b="1" spc="-4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семестр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1900" b="1" spc="-5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 err="1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грудн</a:t>
                      </a:r>
                      <a:r>
                        <a:rPr lang="uk-UA"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я</a:t>
                      </a:r>
                      <a:endParaRPr sz="1900" dirty="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202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В 85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1949">
                <a:tc>
                  <a:txBody>
                    <a:bodyPr/>
                    <a:lstStyle/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Іноземна </a:t>
                      </a:r>
                      <a:r>
                        <a:rPr sz="1900" b="1" spc="-2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мова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академічного </a:t>
                      </a:r>
                      <a:r>
                        <a:rPr sz="1900" b="1" spc="-5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спрямування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900" b="1" spc="-4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семестр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sz="1900" b="1" spc="-5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uk-UA"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листопада</a:t>
                      </a:r>
                      <a:endParaRPr sz="1900" dirty="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202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Д</a:t>
                      </a:r>
                      <a:r>
                        <a:rPr sz="1900" b="1" spc="-5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65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2913" y="93825"/>
            <a:ext cx="1600200" cy="1532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027" y="797471"/>
            <a:ext cx="70662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0" dirty="0">
                <a:solidFill>
                  <a:srgbClr val="063763"/>
                </a:solidFill>
              </a:rPr>
              <a:t>2.</a:t>
            </a:r>
            <a:r>
              <a:rPr sz="1600" spc="-150" dirty="0">
                <a:solidFill>
                  <a:srgbClr val="063763"/>
                </a:solidFill>
              </a:rPr>
              <a:t> </a:t>
            </a:r>
            <a:r>
              <a:rPr sz="1600" spc="130" dirty="0">
                <a:solidFill>
                  <a:srgbClr val="063763"/>
                </a:solidFill>
              </a:rPr>
              <a:t>Н</a:t>
            </a:r>
            <a:r>
              <a:rPr sz="1600" spc="35" dirty="0">
                <a:solidFill>
                  <a:srgbClr val="063763"/>
                </a:solidFill>
              </a:rPr>
              <a:t>авчальна</a:t>
            </a:r>
            <a:r>
              <a:rPr sz="1600" spc="-150" dirty="0">
                <a:solidFill>
                  <a:srgbClr val="063763"/>
                </a:solidFill>
              </a:rPr>
              <a:t> </a:t>
            </a:r>
            <a:r>
              <a:rPr sz="1600" spc="80" dirty="0">
                <a:solidFill>
                  <a:srgbClr val="063763"/>
                </a:solidFill>
              </a:rPr>
              <a:t>робо</a:t>
            </a:r>
            <a:r>
              <a:rPr sz="1600" spc="65" dirty="0">
                <a:solidFill>
                  <a:srgbClr val="063763"/>
                </a:solidFill>
              </a:rPr>
              <a:t>т</a:t>
            </a:r>
            <a:r>
              <a:rPr sz="1600" spc="95" dirty="0">
                <a:solidFill>
                  <a:srgbClr val="063763"/>
                </a:solidFill>
              </a:rPr>
              <a:t>а</a:t>
            </a:r>
            <a:endParaRPr sz="1600" dirty="0"/>
          </a:p>
          <a:p>
            <a:pPr marL="12700">
              <a:lnSpc>
                <a:spcPct val="100000"/>
              </a:lnSpc>
            </a:pPr>
            <a:r>
              <a:rPr sz="1600" spc="50" dirty="0">
                <a:solidFill>
                  <a:srgbClr val="063763"/>
                </a:solidFill>
              </a:rPr>
              <a:t>Складання</a:t>
            </a:r>
            <a:r>
              <a:rPr sz="1600" spc="-150" dirty="0">
                <a:solidFill>
                  <a:srgbClr val="063763"/>
                </a:solidFill>
              </a:rPr>
              <a:t> </a:t>
            </a:r>
            <a:r>
              <a:rPr sz="1600" dirty="0">
                <a:solidFill>
                  <a:srgbClr val="063763"/>
                </a:solidFill>
              </a:rPr>
              <a:t>іспитів</a:t>
            </a:r>
            <a:r>
              <a:rPr sz="1600" spc="-150" dirty="0">
                <a:solidFill>
                  <a:srgbClr val="063763"/>
                </a:solidFill>
              </a:rPr>
              <a:t> </a:t>
            </a:r>
            <a:r>
              <a:rPr sz="1600" spc="55" dirty="0" err="1">
                <a:solidFill>
                  <a:srgbClr val="063763"/>
                </a:solidFill>
              </a:rPr>
              <a:t>та</a:t>
            </a:r>
            <a:r>
              <a:rPr sz="1600" spc="-145" dirty="0">
                <a:solidFill>
                  <a:srgbClr val="063763"/>
                </a:solidFill>
              </a:rPr>
              <a:t> </a:t>
            </a:r>
            <a:r>
              <a:rPr sz="1600" dirty="0" err="1" smtClean="0">
                <a:solidFill>
                  <a:srgbClr val="063763"/>
                </a:solidFill>
              </a:rPr>
              <a:t>заліків</a:t>
            </a:r>
            <a:r>
              <a:rPr lang="uk-UA" sz="1600" dirty="0" smtClean="0">
                <a:solidFill>
                  <a:srgbClr val="063763"/>
                </a:solidFill>
              </a:rPr>
              <a:t> за 2 семестр</a:t>
            </a:r>
            <a:r>
              <a:rPr sz="1600" spc="-150" dirty="0" smtClean="0">
                <a:solidFill>
                  <a:srgbClr val="063763"/>
                </a:solidFill>
              </a:rPr>
              <a:t> </a:t>
            </a:r>
            <a:r>
              <a:rPr sz="1600" spc="-5" dirty="0">
                <a:solidFill>
                  <a:srgbClr val="063763"/>
                </a:solidFill>
              </a:rPr>
              <a:t>(за</a:t>
            </a:r>
            <a:r>
              <a:rPr sz="1600" spc="-150" dirty="0">
                <a:solidFill>
                  <a:srgbClr val="063763"/>
                </a:solidFill>
              </a:rPr>
              <a:t> </a:t>
            </a:r>
            <a:r>
              <a:rPr sz="1600" spc="-10" dirty="0">
                <a:solidFill>
                  <a:srgbClr val="063763"/>
                </a:solidFill>
              </a:rPr>
              <a:t>звітній</a:t>
            </a:r>
            <a:r>
              <a:rPr sz="1600" spc="-145" dirty="0">
                <a:solidFill>
                  <a:srgbClr val="063763"/>
                </a:solidFill>
              </a:rPr>
              <a:t> </a:t>
            </a:r>
            <a:r>
              <a:rPr sz="1600" spc="-35" dirty="0">
                <a:solidFill>
                  <a:srgbClr val="063763"/>
                </a:solidFill>
              </a:rPr>
              <a:t>період):</a:t>
            </a:r>
            <a:endParaRPr sz="16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634451"/>
              </p:ext>
            </p:extLst>
          </p:nvPr>
        </p:nvGraphicFramePr>
        <p:xfrm>
          <a:off x="605027" y="1504950"/>
          <a:ext cx="7700774" cy="353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58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389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801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058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897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Назва</a:t>
                      </a:r>
                      <a:r>
                        <a:rPr sz="1400" b="1" spc="-5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дисципліни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57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400" b="1" spc="-2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Термін</a:t>
                      </a:r>
                      <a:r>
                        <a:rPr sz="1400" b="1" spc="-10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за </a:t>
                      </a:r>
                      <a:r>
                        <a:rPr sz="1400" b="1" spc="-54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планом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3307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Дата </a:t>
                      </a:r>
                      <a:r>
                        <a:rPr sz="1400" b="1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1400" b="1" spc="2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к</a:t>
                      </a: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ладання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4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Оцінка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53426">
                <a:tc>
                  <a:txBody>
                    <a:bodyPr/>
                    <a:lstStyle/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Сучасні ІТ в науковій та педагогічній діяльності </a:t>
                      </a: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Академічне письмо та риторика</a:t>
                      </a: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Іноземна мова академічного спрямування</a:t>
                      </a: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Сучасна наукова філософія                                                           </a:t>
                      </a: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 семестр</a:t>
                      </a: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 семестр</a:t>
                      </a: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lang="uk-UA" sz="1400" b="1" spc="-1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семестр</a:t>
                      </a: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15" baseline="0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1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 семестр</a:t>
                      </a:r>
                    </a:p>
                  </a:txBody>
                  <a:tcPr marL="0" marR="0" marT="7620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uk-UA" sz="1400" b="1" spc="-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21 червня 2023</a:t>
                      </a:r>
                    </a:p>
                    <a:p>
                      <a:pPr marL="85725">
                        <a:lnSpc>
                          <a:spcPct val="100000"/>
                        </a:lnSpc>
                      </a:pPr>
                      <a:endParaRPr lang="uk-UA" sz="1400" b="1" spc="-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endParaRPr lang="uk-UA" sz="1400" b="1" spc="-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uk-UA" sz="1400" b="1" spc="-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21 червня</a:t>
                      </a: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2023</a:t>
                      </a: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23 червня 2023</a:t>
                      </a:r>
                    </a:p>
                    <a:p>
                      <a:pPr marL="85725">
                        <a:lnSpc>
                          <a:spcPct val="100000"/>
                        </a:lnSpc>
                      </a:pPr>
                      <a:endParaRPr lang="uk-UA" sz="1400" b="1" spc="-5" baseline="0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endParaRPr lang="uk-UA" sz="1400" b="1" spc="-5" baseline="0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22 червня 2023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В</a:t>
                      </a: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87</a:t>
                      </a:r>
                      <a:endParaRPr lang="uk-UA" sz="1400" b="1" spc="-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В 80</a:t>
                      </a: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5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Д</a:t>
                      </a: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63</a:t>
                      </a: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lang="uk-UA" sz="1400" b="1" spc="-5" baseline="0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400" b="1" spc="-5" baseline="0" dirty="0" smtClean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 71</a:t>
                      </a:r>
                      <a:endParaRPr lang="uk-UA" sz="1400" b="1" spc="-5" dirty="0" smtClean="0">
                        <a:solidFill>
                          <a:srgbClr val="1B4587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1" y="101819"/>
            <a:ext cx="1371600" cy="13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5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285750"/>
            <a:ext cx="6972257" cy="369332"/>
          </a:xfrm>
        </p:spPr>
        <p:txBody>
          <a:bodyPr/>
          <a:lstStyle/>
          <a:p>
            <a:r>
              <a:rPr lang="uk-UA" sz="2400" dirty="0" smtClean="0"/>
              <a:t>Написання тексту дисертації: 5 %</a:t>
            </a:r>
            <a:endParaRPr lang="ru-RU" sz="2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73073"/>
            <a:ext cx="556260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ru-RU" altLang="ru-RU" sz="10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ЗМІСТ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ВСТУП                    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РОЗДІЛ 1. ТЕОРЕТИЧНІ ОСНОВИ ФОРМУВАННЯ ІНФОРМАЦІЙНО-КОМУНІКАТИВНОЇ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1.1.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	</a:t>
            </a: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Формування професійної компетентності майбутніх дизайнерів як одна з проблем сучасної педагогічної науки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1.2.Аналіз вітчизняного і закордонного досвіду підготовки майбутніх спеціалістів з дизайну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1.3.</a:t>
            </a:r>
            <a:r>
              <a:rPr kumimoji="0" lang="ru-RU" altLang="ru-RU" sz="1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</a:t>
            </a: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Аналіз змісту професійної підготовки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Висновки до розділу 1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РОЗДІЛ 2. ОРГАНІЗАЦІЙНО-МЕТОДИЧНІ УМОВИ ФОРМУВАННЯ ПРОФЕСІЙНОЇ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2.1. Методика формування професійної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2.2.Компоненти</a:t>
            </a: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, критерії, показники та рівні сформованості професійної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2.3. Модель формування професійної компетентності майбутніх фахівців з дизайну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Висновки до розділу 2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РОЗДІЛ 3. ЕКСПЕРЕМЕНТАЛЬНА ПЕРЕВАГА ОРГАНІЗАЦІЙНО-МЕТОДИЧНИХ УМОВ ФОРМУВАННЯ ПРОФЕСІЙНОЇ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4"/>
              </a:rPr>
              <a:t>3.1. Організація та методика проведення експериментального дослідження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5"/>
              </a:rPr>
              <a:t>3.2. Впровадження організаційно-методичних умов в формуванні професійної компетентності майбутніх дизайнерів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6"/>
              </a:rPr>
              <a:t>3.3. Аналіз та інтеграція результатів експериментального дослідження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7"/>
              </a:rPr>
              <a:t>Висновки до розділу 3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8"/>
              </a:rPr>
              <a:t>ЗАГАЛЬНІ ВИСНОВКИ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СПИСОК ВИКОРИСТАНИХ ДЖЕРЕЛ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r>
              <a:rPr kumimoji="0" lang="uk-UA" altLang="ru-RU" sz="1000" b="0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ДОДАТКИ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24600" y="0"/>
            <a:ext cx="2819400" cy="51435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38920" y="285750"/>
            <a:ext cx="1790760" cy="179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85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285750"/>
            <a:ext cx="6972257" cy="369332"/>
          </a:xfrm>
        </p:spPr>
        <p:txBody>
          <a:bodyPr/>
          <a:lstStyle/>
          <a:p>
            <a:r>
              <a:rPr lang="uk-UA" sz="2400" dirty="0" smtClean="0"/>
              <a:t>Написання </a:t>
            </a:r>
            <a:r>
              <a:rPr lang="uk-UA" sz="2400" dirty="0" smtClean="0"/>
              <a:t>вступу, визначені</a:t>
            </a:r>
            <a:r>
              <a:rPr lang="uk-UA" sz="2400" dirty="0" smtClean="0"/>
              <a:t>:</a:t>
            </a:r>
            <a:endParaRPr lang="ru-RU" sz="2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3189274"/>
            <a:ext cx="50292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9340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34075" algn="r"/>
              </a:tabLst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9972" y="655082"/>
            <a:ext cx="51054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1600" b="1" dirty="0" smtClean="0"/>
              <a:t>Об’єкт </a:t>
            </a:r>
            <a:r>
              <a:rPr lang="uk-UA" sz="1600" b="1" dirty="0"/>
              <a:t>дослідження</a:t>
            </a:r>
            <a:r>
              <a:rPr lang="uk-UA" sz="1600" dirty="0"/>
              <a:t> – освітні програми професійної підготовка майбутніх дизайнерів.</a:t>
            </a:r>
            <a:endParaRPr lang="ru-RU" sz="1600" dirty="0"/>
          </a:p>
          <a:p>
            <a:pPr algn="just"/>
            <a:r>
              <a:rPr lang="uk-UA" sz="1600" b="1" dirty="0" smtClean="0"/>
              <a:t>Предмету </a:t>
            </a:r>
            <a:r>
              <a:rPr lang="uk-UA" sz="1600" b="1" dirty="0"/>
              <a:t>дослідження</a:t>
            </a:r>
            <a:r>
              <a:rPr lang="uk-UA" sz="1600" dirty="0"/>
              <a:t> – формування інформаційно-комунікативної компетентності в процесі фахової підготовки майбутніх дизайнерів.</a:t>
            </a:r>
            <a:endParaRPr lang="ru-RU" sz="1600" dirty="0"/>
          </a:p>
          <a:p>
            <a:pPr algn="just"/>
            <a:r>
              <a:rPr lang="uk-UA" sz="1600" b="1" dirty="0" smtClean="0"/>
              <a:t>Мета </a:t>
            </a:r>
            <a:r>
              <a:rPr lang="uk-UA" sz="1600" b="1" dirty="0"/>
              <a:t>дослідження</a:t>
            </a:r>
            <a:r>
              <a:rPr lang="uk-UA" sz="1600" dirty="0"/>
              <a:t> полягає в теоретичному обґрунтуванні та експериментальній перевірці методики формування інформаційно-комунікативної компетентності в процесі фахової підготовки майбутніх </a:t>
            </a:r>
            <a:r>
              <a:rPr lang="uk-UA" sz="1600" dirty="0" smtClean="0"/>
              <a:t>дизайнерів.</a:t>
            </a:r>
            <a:endParaRPr lang="ru-RU" sz="1600" dirty="0"/>
          </a:p>
          <a:p>
            <a:pPr algn="just"/>
            <a:r>
              <a:rPr lang="uk-UA" sz="1600" b="1" dirty="0" smtClean="0"/>
              <a:t>Гіпотеза </a:t>
            </a:r>
            <a:r>
              <a:rPr lang="uk-UA" sz="1600" b="1" dirty="0"/>
              <a:t>дослідження:</a:t>
            </a:r>
            <a:r>
              <a:rPr lang="uk-UA" sz="1600" dirty="0"/>
              <a:t> ефективність формування інформаційно-комунікативної компетентності в процесі фахової підготовки майбутніх дизайнерів, завдяки впровадженню методики, яка має поетапну логіку реалізації (мотиваційно-підготовчий, </a:t>
            </a:r>
            <a:r>
              <a:rPr lang="uk-UA" sz="1600" dirty="0" err="1"/>
              <a:t>корекційноперетворювальний</a:t>
            </a:r>
            <a:r>
              <a:rPr lang="uk-UA" sz="1600" dirty="0"/>
              <a:t>, діяльнісно-творчий етапи);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324600" y="0"/>
            <a:ext cx="2819400" cy="51435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110" y="451366"/>
            <a:ext cx="1792379" cy="17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8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2400" y="209550"/>
            <a:ext cx="8605520" cy="4339650"/>
          </a:xfrm>
        </p:spPr>
        <p:txBody>
          <a:bodyPr/>
          <a:lstStyle/>
          <a:p>
            <a:r>
              <a:rPr lang="uk-UA" dirty="0"/>
              <a:t> </a:t>
            </a:r>
            <a:r>
              <a:rPr lang="uk-UA" sz="2400" b="1" dirty="0">
                <a:solidFill>
                  <a:srgbClr val="002060"/>
                </a:solidFill>
              </a:rPr>
              <a:t>Відповідно до об’єкта, предмета, мети і гіпотези наукового пошуку визначено такі завдання дослідження:</a:t>
            </a:r>
            <a:endParaRPr lang="ru-RU" sz="2400" b="1" dirty="0">
              <a:solidFill>
                <a:srgbClr val="002060"/>
              </a:solidFill>
            </a:endParaRPr>
          </a:p>
          <a:p>
            <a:pPr lvl="0"/>
            <a:endParaRPr lang="uk-UA" dirty="0" smtClean="0"/>
          </a:p>
          <a:p>
            <a:pPr lvl="0"/>
            <a:r>
              <a:rPr lang="uk-UA" dirty="0" smtClean="0"/>
              <a:t>1. Проаналізувати стан проблеми формування інформаційно-комунікативної компетентності в процесі фахової підготовки майбутніх дизайнерів</a:t>
            </a:r>
            <a:r>
              <a:rPr lang="uk-UA" dirty="0"/>
              <a:t>.</a:t>
            </a:r>
            <a:endParaRPr lang="ru-RU" dirty="0"/>
          </a:p>
          <a:p>
            <a:pPr lvl="0"/>
            <a:r>
              <a:rPr lang="uk-UA" dirty="0" smtClean="0"/>
              <a:t>2. Дослідити </a:t>
            </a:r>
            <a:r>
              <a:rPr lang="uk-UA" dirty="0"/>
              <a:t>процес становлення та основні напрями розвитку дизайн-освіти в Україні та у європейських країнах.</a:t>
            </a:r>
            <a:endParaRPr lang="ru-RU" dirty="0"/>
          </a:p>
          <a:p>
            <a:pPr lvl="0"/>
            <a:r>
              <a:rPr lang="uk-UA" dirty="0" smtClean="0"/>
              <a:t>3. Уточнити </a:t>
            </a:r>
            <a:r>
              <a:rPr lang="uk-UA" dirty="0"/>
              <a:t>сутність, зміст і структуру базових понять дослідження.</a:t>
            </a:r>
            <a:endParaRPr lang="ru-RU" dirty="0"/>
          </a:p>
          <a:p>
            <a:pPr lvl="0"/>
            <a:r>
              <a:rPr lang="uk-UA" dirty="0" smtClean="0"/>
              <a:t>4. Визначити </a:t>
            </a:r>
            <a:r>
              <a:rPr lang="uk-UA" dirty="0"/>
              <a:t>критерії, показники й рівні сформованості професійної компетентності майбутніх дизайнерів.</a:t>
            </a:r>
            <a:endParaRPr lang="ru-RU" dirty="0"/>
          </a:p>
          <a:p>
            <a:pPr lvl="0"/>
            <a:r>
              <a:rPr lang="uk-UA" dirty="0" smtClean="0"/>
              <a:t>5. Виявити </a:t>
            </a:r>
            <a:r>
              <a:rPr lang="uk-UA" dirty="0"/>
              <a:t>сукупність педагогічних умов формування професійної компетентності майбутніх дизайнерів, узагальнити теоретичні аспекти дослідження у моделі формування професійної компетентності майбутніх дизайнерів.</a:t>
            </a:r>
            <a:endParaRPr lang="ru-RU" dirty="0"/>
          </a:p>
          <a:p>
            <a:pPr lvl="0"/>
            <a:r>
              <a:rPr lang="uk-UA" dirty="0" smtClean="0"/>
              <a:t>6. Розробити </a:t>
            </a:r>
            <a:r>
              <a:rPr lang="uk-UA" dirty="0"/>
              <a:t>та експериментально перевірити методику формування інформаційно-комунікативної компетентності в процесі фахової підготовки майбутніх дизайнерів.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4705350"/>
            <a:ext cx="9144000" cy="43486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1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71550"/>
            <a:ext cx="5849326" cy="4048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A7EF6213-DF2F-4021-8656-3730F8324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86" y="895350"/>
            <a:ext cx="5820428" cy="41124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10549" y="258250"/>
            <a:ext cx="8521065" cy="623570"/>
          </a:xfrm>
          <a:custGeom>
            <a:avLst/>
            <a:gdLst/>
            <a:ahLst/>
            <a:cxnLst/>
            <a:rect l="l" t="t" r="r" b="b"/>
            <a:pathLst>
              <a:path w="8521065" h="623569">
                <a:moveTo>
                  <a:pt x="8520599" y="623399"/>
                </a:moveTo>
                <a:lnTo>
                  <a:pt x="0" y="623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6233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6C4BD69-2741-4E9C-B444-5E78D0B07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6351"/>
            <a:ext cx="4267200" cy="32399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49FE71EA-046E-4106-87C0-24606E6F1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87" y="1352550"/>
            <a:ext cx="4118113" cy="3163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10549" y="258250"/>
            <a:ext cx="8521065" cy="623570"/>
          </a:xfrm>
          <a:custGeom>
            <a:avLst/>
            <a:gdLst/>
            <a:ahLst/>
            <a:cxnLst/>
            <a:rect l="l" t="t" r="r" b="b"/>
            <a:pathLst>
              <a:path w="8521065" h="623569">
                <a:moveTo>
                  <a:pt x="8520599" y="623399"/>
                </a:moveTo>
                <a:lnTo>
                  <a:pt x="0" y="623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6233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68045"/>
            <a:ext cx="3581400" cy="430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8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712E0CB-7049-45DE-B155-2F9536CB0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2" y="971550"/>
            <a:ext cx="5895975" cy="408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06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724150"/>
            <a:ext cx="5467111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>
                <a:solidFill>
                  <a:srgbClr val="002060"/>
                </a:solidFill>
              </a:rPr>
              <a:t>Дякую</a:t>
            </a:r>
            <a:r>
              <a:rPr spc="-340" dirty="0">
                <a:solidFill>
                  <a:srgbClr val="002060"/>
                </a:solidFill>
              </a:rPr>
              <a:t> </a:t>
            </a:r>
            <a:r>
              <a:rPr spc="145" dirty="0">
                <a:solidFill>
                  <a:srgbClr val="002060"/>
                </a:solidFill>
              </a:rPr>
              <a:t>за</a:t>
            </a:r>
            <a:r>
              <a:rPr spc="-490" dirty="0">
                <a:solidFill>
                  <a:srgbClr val="002060"/>
                </a:solidFill>
              </a:rPr>
              <a:t> </a:t>
            </a:r>
            <a:r>
              <a:rPr spc="-20" dirty="0">
                <a:solidFill>
                  <a:srgbClr val="002060"/>
                </a:solidFill>
              </a:rPr>
              <a:t>увагу!</a:t>
            </a:r>
          </a:p>
        </p:txBody>
      </p:sp>
      <p:pic>
        <p:nvPicPr>
          <p:cNvPr id="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361950"/>
            <a:ext cx="2491174" cy="2491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568</Words>
  <Application>Microsoft Office PowerPoint</Application>
  <PresentationFormat>Экран (16:9)</PresentationFormat>
  <Paragraphs>113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Tahoma</vt:lpstr>
      <vt:lpstr>Times New Roman</vt:lpstr>
      <vt:lpstr>Trebuchet MS</vt:lpstr>
      <vt:lpstr>Office Theme</vt:lpstr>
      <vt:lpstr>Звіт за   2022/2023 н.р.</vt:lpstr>
      <vt:lpstr>1. Наукова робота:</vt:lpstr>
      <vt:lpstr>Презентация PowerPoint</vt:lpstr>
      <vt:lpstr>2. Навчальна робота Складання іспитів та заліків 1 семестр (за звітній період):</vt:lpstr>
      <vt:lpstr>2. Навчальна робота Складання іспитів та заліків за 2 семестр (за звітній період):</vt:lpstr>
      <vt:lpstr>Написання тексту дисертації: 5 %</vt:lpstr>
      <vt:lpstr>Написання вступу, визначені:</vt:lpstr>
      <vt:lpstr>Презентация PowerPoint</vt:lpstr>
      <vt:lpstr>Участь у заходах неформальної освіти:</vt:lpstr>
      <vt:lpstr>Участь у заходах неформальної освіти:</vt:lpstr>
      <vt:lpstr>Участь у заходах неформальної освіти:</vt:lpstr>
      <vt:lpstr>Участь у заходах неформальної освіти:</vt:lpstr>
      <vt:lpstr>Участь у заходах неформальної освіти:</vt:lpstr>
      <vt:lpstr>Дякую за увагу!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Звіт за перше півріччя 2021/2022 н.р.</dc:title>
  <cp:lastModifiedBy>Саныч</cp:lastModifiedBy>
  <cp:revision>17</cp:revision>
  <dcterms:created xsi:type="dcterms:W3CDTF">2023-03-29T06:03:11Z</dcterms:created>
  <dcterms:modified xsi:type="dcterms:W3CDTF">2023-11-10T09:58:56Z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2023-03-29T00:00:00Z</vt:filetime>
  </property>
</Properties>
</file>